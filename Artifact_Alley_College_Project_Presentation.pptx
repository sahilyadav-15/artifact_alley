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5.xml" ContentType="application/vnd.openxmlformats-officedocument.presentationml.slide+xml"/>
  <Override PartName="/ppt/slides/slide7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1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>
              <a:lnSpc>
                <a:spcPct val="90000"/>
              </a:lnSpc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move the </a:t>
            </a: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slide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39F35C3F-2023-4E41-85DE-63CCB4ECC85C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This deck presents the intended completed version of Artifact Alley. It does not claim that every planned feature is already implemented.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7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Class presentation convention used: state the problem first, then explain the solution in plain terms.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8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Technology choices are based on the repository pom.xml and deployment documentation.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PlaceHolder 1"/>
          <p:cNvSpPr>
            <a:spLocks noGrp="1"/>
          </p:cNvSpPr>
          <p:nvPr>
            <p:ph type="sldImg"/>
          </p:nvPr>
        </p:nvSpPr>
        <p:spPr>
          <a:xfrm>
            <a:off x="-360" y="-360"/>
            <a:ext cx="720" cy="720"/>
          </a:xfrm>
          <a:prstGeom prst="rect">
            <a:avLst/>
          </a:prstGeom>
          <a:ln w="0">
            <a:noFill/>
          </a:ln>
        </p:spPr>
      </p:sp>
      <p:sp>
        <p:nvSpPr>
          <p:cNvPr id="19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Technology choices are based on the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repository pom.xml and deployment </a:t>
            </a: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documentation.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9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0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PlaceHolder 3"/>
          <p:cNvSpPr>
            <a:spLocks noGrp="1"/>
          </p:cNvSpPr>
          <p:nvPr>
            <p:ph type="sldNum" idx="12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3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4" name="PlaceHolder 3"/>
          <p:cNvSpPr>
            <a:spLocks noGrp="1"/>
          </p:cNvSpPr>
          <p:nvPr>
            <p:ph type="sldNum" idx="13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20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Research-informed flow used for this presentation: problem, solution, objectives, architecture, technology, expected result, and future scope. Sources consulted: University of Washington CSE 403 demo guidance and final-year software project presentation examples.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7" name="PlaceHolder 3"/>
          <p:cNvSpPr>
            <a:spLocks noGrp="1"/>
          </p:cNvSpPr>
          <p:nvPr>
            <p:ph type="sldNum" idx="1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tIns="-45000" rIns="90000" bIns="-45000" anchor="t">
            <a:noAutofit/>
          </a:bodyPr>
          <a:p>
            <a:pPr indent="0" algn="l">
              <a:buNone/>
            </a:pP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480" y="502920"/>
            <a:ext cx="10972080" cy="68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480" y="3379320"/>
            <a:ext cx="10972080" cy="4273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p>
            <a:pPr indent="0" algn="l">
              <a:lnSpc>
                <a:spcPct val="90000"/>
              </a:lnSpc>
              <a:spcBef>
                <a:spcPts val="1417"/>
              </a:spcBef>
              <a:buNone/>
            </a:pP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480" y="502920"/>
            <a:ext cx="10972080" cy="6861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subTitle"/>
          </p:nvPr>
        </p:nvSpPr>
        <p:spPr>
          <a:xfrm>
            <a:off x="609480" y="3364920"/>
            <a:ext cx="10972080" cy="4561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p>
            <a:pPr indent="0" algn="ctr">
              <a:buNone/>
            </a:pPr>
            <a:endParaRPr lang="en-US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543960"/>
            <a:ext cx="10972080" cy="6037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spAutoFit/>
          </a:bodyPr>
          <a:lstStyle>
            <a:lvl1pPr indent="0" algn="l">
              <a:lnSpc>
                <a:spcPct val="90000"/>
              </a:lnSpc>
              <a:buNone/>
              <a:tabLst>
                <a:tab pos="0" algn="l"/>
              </a:tabLst>
              <a:def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defRPr>
            </a:lvl1pPr>
          </a:lstStyle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chemeClr val="dk1"/>
                </a:solidFill>
                <a:effectLst/>
                <a:uFillTx/>
                <a:latin typeface="Calibri Light"/>
              </a:rPr>
              <a:t>Click to edit the title text format</a:t>
            </a:r>
            <a:endParaRPr lang="en-US" sz="4400" b="0" u="none" strike="noStrike">
              <a:solidFill>
                <a:schemeClr val="dk1"/>
              </a:solidFill>
              <a:effectLst/>
              <a:uFillTx/>
              <a:latin typeface="Calibri Light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2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1026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"/>
          <p:cNvSpPr/>
          <p:nvPr/>
        </p:nvSpPr>
        <p:spPr>
          <a:xfrm>
            <a:off x="0" y="0"/>
            <a:ext cx="12191400" cy="1137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"/>
          <p:cNvSpPr/>
          <p:nvPr/>
        </p:nvSpPr>
        <p:spPr>
          <a:xfrm>
            <a:off x="7667640" y="914400"/>
            <a:ext cx="3428280" cy="3428280"/>
          </a:xfrm>
          <a:prstGeom prst="roundRect">
            <a:avLst>
              <a:gd name="adj" fmla="val 50000"/>
            </a:avLst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" name=""/>
          <p:cNvPicPr/>
          <p:nvPr/>
        </p:nvPicPr>
        <p:blipFill>
          <a:blip r:embed="rId1"/>
          <a:stretch/>
        </p:blipFill>
        <p:spPr>
          <a:xfrm>
            <a:off x="7905600" y="1162080"/>
            <a:ext cx="2952000" cy="29520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"/>
          <p:cNvSpPr/>
          <p:nvPr/>
        </p:nvSpPr>
        <p:spPr>
          <a:xfrm>
            <a:off x="781200" y="1447920"/>
            <a:ext cx="6190560" cy="666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390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Artifact Alley</a:t>
            </a:r>
            <a:endParaRPr lang="en-US" sz="39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" name=""/>
          <p:cNvSpPr/>
          <p:nvPr/>
        </p:nvSpPr>
        <p:spPr>
          <a:xfrm>
            <a:off x="800280" y="2209680"/>
            <a:ext cx="561888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950" b="0" u="none" strike="noStrike">
                <a:solidFill>
                  <a:srgbClr val="CBE3E4"/>
                </a:solidFill>
                <a:effectLst/>
                <a:uFillTx/>
                <a:latin typeface="C059"/>
                <a:ea typeface="C059"/>
              </a:rPr>
              <a:t>Online Auction Platform for Artifacts and Antiques</a:t>
            </a:r>
            <a:endParaRPr lang="en-US" sz="19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" name=""/>
          <p:cNvSpPr/>
          <p:nvPr/>
        </p:nvSpPr>
        <p:spPr>
          <a:xfrm>
            <a:off x="800280" y="3105000"/>
            <a:ext cx="35236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47500" lnSpcReduction="19999"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" name=""/>
          <p:cNvSpPr/>
          <p:nvPr/>
        </p:nvSpPr>
        <p:spPr>
          <a:xfrm>
            <a:off x="800280" y="3600360"/>
            <a:ext cx="42379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Proposed completed-system overview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"/>
          <p:cNvSpPr/>
          <p:nvPr/>
        </p:nvSpPr>
        <p:spPr>
          <a:xfrm>
            <a:off x="800280" y="4457880"/>
            <a:ext cx="528552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500" b="0" u="none" strike="noStrike">
                <a:solidFill>
                  <a:srgbClr val="DDE8EE"/>
                </a:solidFill>
                <a:effectLst/>
                <a:uFillTx/>
                <a:latin typeface="C059"/>
                <a:ea typeface="C059"/>
              </a:rPr>
              <a:t>A role-based platform for trusted artifact </a:t>
            </a:r>
            <a:r>
              <a:rPr lang="en-US" sz="1500" b="0" u="none" strike="noStrike">
                <a:solidFill>
                  <a:srgbClr val="DDE8EE"/>
                </a:solidFill>
                <a:effectLst/>
                <a:uFillTx/>
                <a:latin typeface="C059"/>
                <a:ea typeface="C059"/>
              </a:rPr>
              <a:t>discovery, approval, and bidding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Why Artifact Alley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project addresses the difficulty of organizing trusted </a:t>
            </a: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online auctions for artifacts and antiques.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02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"/>
          <p:cNvSpPr/>
          <p:nvPr/>
        </p:nvSpPr>
        <p:spPr>
          <a:xfrm>
            <a:off x="685800" y="1657440"/>
            <a:ext cx="4742640" cy="3733200"/>
          </a:xfrm>
          <a:prstGeom prst="roundRect">
            <a:avLst>
              <a:gd name="adj" fmla="val 5102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"/>
          <p:cNvSpPr/>
          <p:nvPr/>
        </p:nvSpPr>
        <p:spPr>
          <a:xfrm>
            <a:off x="1066680" y="2038320"/>
            <a:ext cx="314244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Current difficulty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"/>
          <p:cNvSpPr/>
          <p:nvPr/>
        </p:nvSpPr>
        <p:spPr>
          <a:xfrm>
            <a:off x="1066680" y="2629080"/>
            <a:ext cx="3761640" cy="1751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58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Collectors need a clear way to discover items, follow active auctions, and place bids. Sellers need a controlled path to publish listings. An administrator needs oversight before an item appears publicly.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"/>
          <p:cNvSpPr/>
          <p:nvPr/>
        </p:nvSpPr>
        <p:spPr>
          <a:xfrm>
            <a:off x="6114960" y="1657440"/>
            <a:ext cx="5380920" cy="3733200"/>
          </a:xfrm>
          <a:prstGeom prst="roundRect">
            <a:avLst>
              <a:gd name="adj" fmla="val 5102"/>
            </a:avLst>
          </a:prstGeom>
          <a:solidFill>
            <a:srgbClr val="EAF3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"/>
          <p:cNvSpPr/>
          <p:nvPr/>
        </p:nvSpPr>
        <p:spPr>
          <a:xfrm>
            <a:off x="6534000" y="2038320"/>
            <a:ext cx="342828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Project response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"/>
          <p:cNvSpPr/>
          <p:nvPr/>
        </p:nvSpPr>
        <p:spPr>
          <a:xfrm>
            <a:off x="6534000" y="2724120"/>
            <a:ext cx="513720" cy="513720"/>
          </a:xfrm>
          <a:prstGeom prst="roundRect">
            <a:avLst>
              <a:gd name="adj" fmla="val 50000"/>
            </a:avLst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" name=""/>
          <p:cNvSpPr/>
          <p:nvPr/>
        </p:nvSpPr>
        <p:spPr>
          <a:xfrm>
            <a:off x="6534000" y="2819520"/>
            <a:ext cx="5137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1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" name=""/>
          <p:cNvSpPr/>
          <p:nvPr/>
        </p:nvSpPr>
        <p:spPr>
          <a:xfrm>
            <a:off x="7219800" y="2752560"/>
            <a:ext cx="2380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Discover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"/>
          <p:cNvSpPr/>
          <p:nvPr/>
        </p:nvSpPr>
        <p:spPr>
          <a:xfrm>
            <a:off x="7219800" y="3067200"/>
            <a:ext cx="271404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17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Browse a curated catalogue of live </a:t>
            </a:r>
            <a:r>
              <a:rPr lang="en-US" sz="117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auction items.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"/>
          <p:cNvSpPr/>
          <p:nvPr/>
        </p:nvSpPr>
        <p:spPr>
          <a:xfrm>
            <a:off x="6534000" y="3714840"/>
            <a:ext cx="513720" cy="513720"/>
          </a:xfrm>
          <a:prstGeom prst="roundRect">
            <a:avLst>
              <a:gd name="adj" fmla="val 50000"/>
            </a:avLst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"/>
          <p:cNvSpPr/>
          <p:nvPr/>
        </p:nvSpPr>
        <p:spPr>
          <a:xfrm>
            <a:off x="6534000" y="3809880"/>
            <a:ext cx="5137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2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"/>
          <p:cNvSpPr/>
          <p:nvPr/>
        </p:nvSpPr>
        <p:spPr>
          <a:xfrm>
            <a:off x="7219800" y="3743280"/>
            <a:ext cx="2380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Participate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"/>
          <p:cNvSpPr/>
          <p:nvPr/>
        </p:nvSpPr>
        <p:spPr>
          <a:xfrm>
            <a:off x="7219800" y="4057560"/>
            <a:ext cx="271404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17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Sign in and place a valid bid on an active item.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"/>
          <p:cNvSpPr/>
          <p:nvPr/>
        </p:nvSpPr>
        <p:spPr>
          <a:xfrm>
            <a:off x="6534000" y="4705200"/>
            <a:ext cx="513720" cy="513720"/>
          </a:xfrm>
          <a:prstGeom prst="roundRect">
            <a:avLst>
              <a:gd name="adj" fmla="val 50000"/>
            </a:avLst>
          </a:prstGeom>
          <a:solidFill>
            <a:srgbClr val="1B5E7A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"/>
          <p:cNvSpPr/>
          <p:nvPr/>
        </p:nvSpPr>
        <p:spPr>
          <a:xfrm>
            <a:off x="6534000" y="4800600"/>
            <a:ext cx="51372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35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3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"/>
          <p:cNvSpPr/>
          <p:nvPr/>
        </p:nvSpPr>
        <p:spPr>
          <a:xfrm>
            <a:off x="7219800" y="4734000"/>
            <a:ext cx="23806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>
              <a:lnSpc>
                <a:spcPct val="100000"/>
              </a:lnSpc>
            </a:pPr>
            <a:r>
              <a:rPr lang="en-US" sz="158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Supervise</a:t>
            </a:r>
            <a:endParaRPr lang="en-US" sz="15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"/>
          <p:cNvSpPr/>
          <p:nvPr/>
        </p:nvSpPr>
        <p:spPr>
          <a:xfrm>
            <a:off x="7219800" y="5048280"/>
            <a:ext cx="2714040" cy="52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17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Review seller submissions before public release.</a:t>
            </a:r>
            <a:endParaRPr lang="en-US" sz="11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Project objectives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completed system will support the main auction journey while keeping actions tied to user roles.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03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"/>
          <p:cNvSpPr/>
          <p:nvPr/>
        </p:nvSpPr>
        <p:spPr>
          <a:xfrm>
            <a:off x="685800" y="1657440"/>
            <a:ext cx="5047560" cy="15231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"/>
          <p:cNvSpPr/>
          <p:nvPr/>
        </p:nvSpPr>
        <p:spPr>
          <a:xfrm>
            <a:off x="952560" y="1952640"/>
            <a:ext cx="132480" cy="913680"/>
          </a:xfrm>
          <a:prstGeom prst="roundRect">
            <a:avLst>
              <a:gd name="adj" fmla="val 50000"/>
            </a:avLst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0" name=""/>
          <p:cNvSpPr/>
          <p:nvPr/>
        </p:nvSpPr>
        <p:spPr>
          <a:xfrm>
            <a:off x="1314360" y="1952640"/>
            <a:ext cx="39999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729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Trusted access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"/>
          <p:cNvSpPr/>
          <p:nvPr/>
        </p:nvSpPr>
        <p:spPr>
          <a:xfrm>
            <a:off x="1314360" y="2381400"/>
            <a:ext cx="39045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Create accounts and sign in with server-side validation and secure password storage.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"/>
          <p:cNvSpPr/>
          <p:nvPr/>
        </p:nvSpPr>
        <p:spPr>
          <a:xfrm>
            <a:off x="6114960" y="1657440"/>
            <a:ext cx="5047560" cy="15231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"/>
          <p:cNvSpPr/>
          <p:nvPr/>
        </p:nvSpPr>
        <p:spPr>
          <a:xfrm>
            <a:off x="6381720" y="1952640"/>
            <a:ext cx="132480" cy="913680"/>
          </a:xfrm>
          <a:prstGeom prst="roundRect">
            <a:avLst>
              <a:gd name="adj" fmla="val 50000"/>
            </a:avLst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" name=""/>
          <p:cNvSpPr/>
          <p:nvPr/>
        </p:nvSpPr>
        <p:spPr>
          <a:xfrm>
            <a:off x="6743880" y="1952640"/>
            <a:ext cx="39999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729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Controlled listing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"/>
          <p:cNvSpPr/>
          <p:nvPr/>
        </p:nvSpPr>
        <p:spPr>
          <a:xfrm>
            <a:off x="6743880" y="2381400"/>
            <a:ext cx="39045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Let sellers submit artifact listings for review before publication.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"/>
          <p:cNvSpPr/>
          <p:nvPr/>
        </p:nvSpPr>
        <p:spPr>
          <a:xfrm>
            <a:off x="685800" y="3610080"/>
            <a:ext cx="5047560" cy="15231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" name=""/>
          <p:cNvSpPr/>
          <p:nvPr/>
        </p:nvSpPr>
        <p:spPr>
          <a:xfrm>
            <a:off x="952560" y="3905280"/>
            <a:ext cx="132480" cy="913680"/>
          </a:xfrm>
          <a:prstGeom prst="roundRect">
            <a:avLst>
              <a:gd name="adj" fmla="val 50000"/>
            </a:avLst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8" name=""/>
          <p:cNvSpPr/>
          <p:nvPr/>
        </p:nvSpPr>
        <p:spPr>
          <a:xfrm>
            <a:off x="1314360" y="3905280"/>
            <a:ext cx="39999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729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Fair bidding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"/>
          <p:cNvSpPr/>
          <p:nvPr/>
        </p:nvSpPr>
        <p:spPr>
          <a:xfrm>
            <a:off x="1314360" y="4334040"/>
            <a:ext cx="39045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Accept bids only when the auction is live and the amount meets the required minimum.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"/>
          <p:cNvSpPr/>
          <p:nvPr/>
        </p:nvSpPr>
        <p:spPr>
          <a:xfrm>
            <a:off x="6114960" y="3610080"/>
            <a:ext cx="5047560" cy="1523160"/>
          </a:xfrm>
          <a:prstGeom prst="roundRect">
            <a:avLst>
              <a:gd name="adj" fmla="val 11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"/>
          <p:cNvSpPr/>
          <p:nvPr/>
        </p:nvSpPr>
        <p:spPr>
          <a:xfrm>
            <a:off x="6381720" y="3905280"/>
            <a:ext cx="132480" cy="913680"/>
          </a:xfrm>
          <a:prstGeom prst="roundRect">
            <a:avLst>
              <a:gd name="adj" fmla="val 50000"/>
            </a:avLst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66240" tIns="45000" rIns="6624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"/>
          <p:cNvSpPr/>
          <p:nvPr/>
        </p:nvSpPr>
        <p:spPr>
          <a:xfrm>
            <a:off x="6743880" y="3905280"/>
            <a:ext cx="39999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729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Administrative review</a:t>
            </a:r>
            <a:endParaRPr lang="en-US" sz="1729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"/>
          <p:cNvSpPr/>
          <p:nvPr/>
        </p:nvSpPr>
        <p:spPr>
          <a:xfrm>
            <a:off x="6743880" y="4334040"/>
            <a:ext cx="390456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Allow an administrator to approve suitable submissions and manage the marketplace.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Users and responsibilities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Role-based access keeps each part of the marketplace focused and accountable.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04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"/>
          <p:cNvSpPr/>
          <p:nvPr/>
        </p:nvSpPr>
        <p:spPr>
          <a:xfrm>
            <a:off x="819000" y="1752480"/>
            <a:ext cx="3142440" cy="3047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"/>
          <p:cNvSpPr/>
          <p:nvPr/>
        </p:nvSpPr>
        <p:spPr>
          <a:xfrm>
            <a:off x="819000" y="1752480"/>
            <a:ext cx="3142440" cy="94680"/>
          </a:xfrm>
          <a:prstGeom prst="rect">
            <a:avLst/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0" name=""/>
          <p:cNvSpPr/>
          <p:nvPr/>
        </p:nvSpPr>
        <p:spPr>
          <a:xfrm>
            <a:off x="1143000" y="2209680"/>
            <a:ext cx="2475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202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Bidder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"/>
          <p:cNvSpPr/>
          <p:nvPr/>
        </p:nvSpPr>
        <p:spPr>
          <a:xfrm>
            <a:off x="1143000" y="2876400"/>
            <a:ext cx="238068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Browse live auctions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View auction details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Place valid bids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"/>
          <p:cNvSpPr/>
          <p:nvPr/>
        </p:nvSpPr>
        <p:spPr>
          <a:xfrm>
            <a:off x="4533840" y="1752480"/>
            <a:ext cx="3142440" cy="304740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"/>
          <p:cNvSpPr/>
          <p:nvPr/>
        </p:nvSpPr>
        <p:spPr>
          <a:xfrm>
            <a:off x="4533840" y="1752480"/>
            <a:ext cx="3142440" cy="9468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"/>
          <p:cNvSpPr/>
          <p:nvPr/>
        </p:nvSpPr>
        <p:spPr>
          <a:xfrm>
            <a:off x="4857840" y="2209680"/>
            <a:ext cx="2475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202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Seller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"/>
          <p:cNvSpPr/>
          <p:nvPr/>
        </p:nvSpPr>
        <p:spPr>
          <a:xfrm>
            <a:off x="4857840" y="2876400"/>
            <a:ext cx="238068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Register as a seller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Submit an artifact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Track approval status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"/>
          <p:cNvSpPr/>
          <p:nvPr/>
        </p:nvSpPr>
        <p:spPr>
          <a:xfrm>
            <a:off x="8248680" y="1752480"/>
            <a:ext cx="3142440" cy="3047400"/>
          </a:xfrm>
          <a:prstGeom prst="roundRect">
            <a:avLst>
              <a:gd name="adj" fmla="val 6250"/>
            </a:avLst>
          </a:prstGeom>
          <a:solidFill>
            <a:srgbClr val="1026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"/>
          <p:cNvSpPr/>
          <p:nvPr/>
        </p:nvSpPr>
        <p:spPr>
          <a:xfrm>
            <a:off x="8248680" y="1752480"/>
            <a:ext cx="3142440" cy="94680"/>
          </a:xfrm>
          <a:prstGeom prst="rect">
            <a:avLst/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8" name=""/>
          <p:cNvSpPr/>
          <p:nvPr/>
        </p:nvSpPr>
        <p:spPr>
          <a:xfrm>
            <a:off x="8572680" y="2209680"/>
            <a:ext cx="247572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202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Administrator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"/>
          <p:cNvSpPr/>
          <p:nvPr/>
        </p:nvSpPr>
        <p:spPr>
          <a:xfrm>
            <a:off x="8572680" y="2876400"/>
            <a:ext cx="2380680" cy="138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Review pending listings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Approve listings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Maintain marketplace quality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"/>
          <p:cNvSpPr/>
          <p:nvPr/>
        </p:nvSpPr>
        <p:spPr>
          <a:xfrm>
            <a:off x="1523880" y="5381640"/>
            <a:ext cx="914328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430" b="0" u="none" strike="noStrike">
                <a:solidFill>
                  <a:srgbClr val="1B5E7A"/>
                </a:solidFill>
                <a:effectLst/>
                <a:uFillTx/>
                <a:latin typeface="C059"/>
                <a:ea typeface="C059"/>
              </a:rPr>
              <a:t>A visitor may browse the catalogue. Account-only actions require the relevant role.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How the completed system will work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public auction flow begins with a seller submission and ends with a bidder action on a live listing.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05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"/>
          <p:cNvSpPr/>
          <p:nvPr/>
        </p:nvSpPr>
        <p:spPr>
          <a:xfrm>
            <a:off x="762120" y="2762280"/>
            <a:ext cx="1951920" cy="11898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6" name=""/>
          <p:cNvSpPr/>
          <p:nvPr/>
        </p:nvSpPr>
        <p:spPr>
          <a:xfrm>
            <a:off x="952560" y="3095640"/>
            <a:ext cx="157104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Seller submits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artifact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"/>
          <p:cNvSpPr/>
          <p:nvPr/>
        </p:nvSpPr>
        <p:spPr>
          <a:xfrm>
            <a:off x="3238560" y="2762280"/>
            <a:ext cx="1951920" cy="11898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"/>
          <p:cNvSpPr/>
          <p:nvPr/>
        </p:nvSpPr>
        <p:spPr>
          <a:xfrm>
            <a:off x="3429000" y="3095640"/>
            <a:ext cx="157104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Admin reviews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submission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"/>
          <p:cNvSpPr/>
          <p:nvPr/>
        </p:nvSpPr>
        <p:spPr>
          <a:xfrm>
            <a:off x="5715000" y="2762280"/>
            <a:ext cx="1951920" cy="1189800"/>
          </a:xfrm>
          <a:prstGeom prst="roundRect">
            <a:avLst>
              <a:gd name="adj" fmla="val 14400"/>
            </a:avLst>
          </a:prstGeom>
          <a:solidFill>
            <a:srgbClr val="2D8C9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"/>
          <p:cNvSpPr/>
          <p:nvPr/>
        </p:nvSpPr>
        <p:spPr>
          <a:xfrm>
            <a:off x="5905440" y="3095640"/>
            <a:ext cx="157104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7500" lnSpcReduction="19999"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Approved listing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becomes live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"/>
          <p:cNvSpPr/>
          <p:nvPr/>
        </p:nvSpPr>
        <p:spPr>
          <a:xfrm>
            <a:off x="8191440" y="2762280"/>
            <a:ext cx="1951920" cy="1189800"/>
          </a:xfrm>
          <a:prstGeom prst="roundRect">
            <a:avLst>
              <a:gd name="adj" fmla="val 144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"/>
          <p:cNvSpPr/>
          <p:nvPr/>
        </p:nvSpPr>
        <p:spPr>
          <a:xfrm>
            <a:off x="8381880" y="3095640"/>
            <a:ext cx="1571040" cy="55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Bidder views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and bids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93" name=""/>
          <p:cNvCxnSpPr>
            <a:stCxn id="85" idx="3"/>
            <a:endCxn id="87" idx="1"/>
          </p:cNvCxnSpPr>
          <p:nvPr/>
        </p:nvCxnSpPr>
        <p:spPr>
          <a:xfrm>
            <a:off x="2714040" y="3357360"/>
            <a:ext cx="52488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  <p:cxnSp>
        <p:nvCxnSpPr>
          <p:cNvPr id="94" name=""/>
          <p:cNvCxnSpPr>
            <a:stCxn id="87" idx="3"/>
            <a:endCxn id="89" idx="1"/>
          </p:cNvCxnSpPr>
          <p:nvPr/>
        </p:nvCxnSpPr>
        <p:spPr>
          <a:xfrm>
            <a:off x="5190480" y="3357360"/>
            <a:ext cx="52488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  <p:cxnSp>
        <p:nvCxnSpPr>
          <p:cNvPr id="95" name=""/>
          <p:cNvCxnSpPr>
            <a:stCxn id="89" idx="3"/>
            <a:endCxn id="91" idx="1"/>
          </p:cNvCxnSpPr>
          <p:nvPr/>
        </p:nvCxnSpPr>
        <p:spPr>
          <a:xfrm>
            <a:off x="7666920" y="3357360"/>
            <a:ext cx="52488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  <p:sp>
        <p:nvSpPr>
          <p:cNvPr id="96" name=""/>
          <p:cNvSpPr/>
          <p:nvPr/>
        </p:nvSpPr>
        <p:spPr>
          <a:xfrm>
            <a:off x="1714680" y="4896000"/>
            <a:ext cx="876240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 algn="ctr">
              <a:lnSpc>
                <a:spcPct val="100000"/>
              </a:lnSpc>
            </a:pPr>
            <a:r>
              <a:rPr lang="en-US" sz="15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Approval protects the public catalogue. Bid rules protect the auction process.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Proposed system architecture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 layered Spring application separates the browser experience, business rules, and stored data.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"/>
          <p:cNvSpPr/>
          <p:nvPr/>
        </p:nvSpPr>
        <p:spPr>
          <a:xfrm>
            <a:off x="838080" y="2619360"/>
            <a:ext cx="2094840" cy="1142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2" name=""/>
          <p:cNvSpPr/>
          <p:nvPr/>
        </p:nvSpPr>
        <p:spPr>
          <a:xfrm>
            <a:off x="3857760" y="2333520"/>
            <a:ext cx="2380680" cy="1713960"/>
          </a:xfrm>
          <a:prstGeom prst="roundRect">
            <a:avLst>
              <a:gd name="adj" fmla="val 10000"/>
            </a:avLst>
          </a:prstGeom>
          <a:solidFill>
            <a:srgbClr val="EAF3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"/>
          <p:cNvSpPr/>
          <p:nvPr/>
        </p:nvSpPr>
        <p:spPr>
          <a:xfrm>
            <a:off x="7219800" y="2619360"/>
            <a:ext cx="2094840" cy="114228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"/>
          <p:cNvSpPr/>
          <p:nvPr/>
        </p:nvSpPr>
        <p:spPr>
          <a:xfrm>
            <a:off x="10134720" y="2619360"/>
            <a:ext cx="1285200" cy="1142280"/>
          </a:xfrm>
          <a:prstGeom prst="roundRect">
            <a:avLst>
              <a:gd name="adj" fmla="val 15000"/>
            </a:avLst>
          </a:prstGeom>
          <a:solidFill>
            <a:srgbClr val="1026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"/>
          <p:cNvSpPr/>
          <p:nvPr/>
        </p:nvSpPr>
        <p:spPr>
          <a:xfrm>
            <a:off x="1162080" y="2857680"/>
            <a:ext cx="147564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Browser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"/>
          <p:cNvSpPr/>
          <p:nvPr/>
        </p:nvSpPr>
        <p:spPr>
          <a:xfrm>
            <a:off x="1162080" y="3247920"/>
            <a:ext cx="147564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JSP pages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CSS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"/>
          <p:cNvSpPr/>
          <p:nvPr/>
        </p:nvSpPr>
        <p:spPr>
          <a:xfrm>
            <a:off x="4191120" y="2571840"/>
            <a:ext cx="17139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87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Spring Boot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"/>
          <p:cNvSpPr/>
          <p:nvPr/>
        </p:nvSpPr>
        <p:spPr>
          <a:xfrm>
            <a:off x="4191120" y="3029040"/>
            <a:ext cx="1713960" cy="685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Spring MVC controllers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Services and validation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Spring Data JPA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"/>
          <p:cNvSpPr/>
          <p:nvPr/>
        </p:nvSpPr>
        <p:spPr>
          <a:xfrm>
            <a:off x="7562880" y="2857680"/>
            <a:ext cx="14281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Database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"/>
          <p:cNvSpPr/>
          <p:nvPr/>
        </p:nvSpPr>
        <p:spPr>
          <a:xfrm>
            <a:off x="7496280" y="3247920"/>
            <a:ext cx="1571040" cy="428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7500" lnSpcReduction="19999"/>
          </a:bodyPr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H2 for local work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PostgreSQL for deployment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"/>
          <p:cNvSpPr/>
          <p:nvPr/>
        </p:nvSpPr>
        <p:spPr>
          <a:xfrm>
            <a:off x="10287000" y="2886120"/>
            <a:ext cx="95184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65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Deploy</a:t>
            </a:r>
            <a:endParaRPr lang="en-US" sz="16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"/>
          <p:cNvSpPr/>
          <p:nvPr/>
        </p:nvSpPr>
        <p:spPr>
          <a:xfrm>
            <a:off x="10287000" y="3286080"/>
            <a:ext cx="951840" cy="22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28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Render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113" name=""/>
          <p:cNvCxnSpPr>
            <a:stCxn id="101" idx="3"/>
            <a:endCxn id="102" idx="1"/>
          </p:cNvCxnSpPr>
          <p:nvPr/>
        </p:nvCxnSpPr>
        <p:spPr>
          <a:xfrm>
            <a:off x="2932920" y="3190680"/>
            <a:ext cx="92520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  <p:cxnSp>
        <p:nvCxnSpPr>
          <p:cNvPr id="114" name=""/>
          <p:cNvCxnSpPr>
            <a:stCxn id="102" idx="3"/>
            <a:endCxn id="103" idx="1"/>
          </p:cNvCxnSpPr>
          <p:nvPr/>
        </p:nvCxnSpPr>
        <p:spPr>
          <a:xfrm>
            <a:off x="6238440" y="3190680"/>
            <a:ext cx="98172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  <p:cxnSp>
        <p:nvCxnSpPr>
          <p:cNvPr id="115" name=""/>
          <p:cNvCxnSpPr>
            <a:stCxn id="103" idx="3"/>
            <a:endCxn id="104" idx="1"/>
          </p:cNvCxnSpPr>
          <p:nvPr/>
        </p:nvCxnSpPr>
        <p:spPr>
          <a:xfrm>
            <a:off x="9314640" y="3190680"/>
            <a:ext cx="820440" cy="360"/>
          </a:xfrm>
          <a:prstGeom prst="straightConnector1">
            <a:avLst/>
          </a:prstGeom>
          <a:ln w="28575">
            <a:solidFill>
              <a:srgbClr val="D99A31"/>
            </a:solidFill>
            <a:round/>
            <a:tailEnd len="med" type="arrow" w="med"/>
          </a:ln>
        </p:spPr>
      </p:cxn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06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18" name=""/>
          <p:cNvPicPr/>
          <p:nvPr/>
        </p:nvPicPr>
        <p:blipFill>
          <a:blip r:embed="rId1"/>
          <a:stretch/>
        </p:blipFill>
        <p:spPr>
          <a:xfrm>
            <a:off x="572040" y="360"/>
            <a:ext cx="5142960" cy="6857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19" name=""/>
          <p:cNvPicPr/>
          <p:nvPr/>
        </p:nvPicPr>
        <p:blipFill>
          <a:blip r:embed="rId2"/>
          <a:stretch/>
        </p:blipFill>
        <p:spPr>
          <a:xfrm>
            <a:off x="5986440" y="360"/>
            <a:ext cx="5142960" cy="68576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Technology stack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stack matches the Java syllabus and supports a server-rendered web application.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07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"/>
          <p:cNvSpPr/>
          <p:nvPr/>
        </p:nvSpPr>
        <p:spPr>
          <a:xfrm>
            <a:off x="905040" y="161928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"/>
          <p:cNvSpPr/>
          <p:nvPr/>
        </p:nvSpPr>
        <p:spPr>
          <a:xfrm>
            <a:off x="1171440" y="183816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Language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6" name=""/>
          <p:cNvSpPr/>
          <p:nvPr/>
        </p:nvSpPr>
        <p:spPr>
          <a:xfrm>
            <a:off x="2905200" y="181944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Java 21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"/>
          <p:cNvSpPr/>
          <p:nvPr/>
        </p:nvSpPr>
        <p:spPr>
          <a:xfrm>
            <a:off x="905040" y="261936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"/>
          <p:cNvSpPr/>
          <p:nvPr/>
        </p:nvSpPr>
        <p:spPr>
          <a:xfrm>
            <a:off x="1171440" y="283860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Framework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"/>
          <p:cNvSpPr/>
          <p:nvPr/>
        </p:nvSpPr>
        <p:spPr>
          <a:xfrm>
            <a:off x="2905200" y="281952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Spring Boot 3.5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"/>
          <p:cNvSpPr/>
          <p:nvPr/>
        </p:nvSpPr>
        <p:spPr>
          <a:xfrm>
            <a:off x="905040" y="361944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"/>
          <p:cNvSpPr/>
          <p:nvPr/>
        </p:nvSpPr>
        <p:spPr>
          <a:xfrm>
            <a:off x="1171440" y="383868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Web layer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"/>
          <p:cNvSpPr/>
          <p:nvPr/>
        </p:nvSpPr>
        <p:spPr>
          <a:xfrm>
            <a:off x="2905200" y="381960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Spring MVC and JSP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"/>
          <p:cNvSpPr/>
          <p:nvPr/>
        </p:nvSpPr>
        <p:spPr>
          <a:xfrm>
            <a:off x="905040" y="461952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"/>
          <p:cNvSpPr/>
          <p:nvPr/>
        </p:nvSpPr>
        <p:spPr>
          <a:xfrm>
            <a:off x="1171440" y="483876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Data access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5" name=""/>
          <p:cNvSpPr/>
          <p:nvPr/>
        </p:nvSpPr>
        <p:spPr>
          <a:xfrm>
            <a:off x="2905200" y="481968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Spring Data JPA and JDBC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"/>
          <p:cNvSpPr/>
          <p:nvPr/>
        </p:nvSpPr>
        <p:spPr>
          <a:xfrm>
            <a:off x="6286680" y="161928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"/>
          <p:cNvSpPr/>
          <p:nvPr/>
        </p:nvSpPr>
        <p:spPr>
          <a:xfrm>
            <a:off x="6553080" y="183816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Database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"/>
          <p:cNvSpPr/>
          <p:nvPr/>
        </p:nvSpPr>
        <p:spPr>
          <a:xfrm>
            <a:off x="8286840" y="181944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62500" lnSpcReduction="1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H2 locally; PostgreSQL in production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"/>
          <p:cNvSpPr/>
          <p:nvPr/>
        </p:nvSpPr>
        <p:spPr>
          <a:xfrm>
            <a:off x="6286680" y="261936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"/>
          <p:cNvSpPr/>
          <p:nvPr/>
        </p:nvSpPr>
        <p:spPr>
          <a:xfrm>
            <a:off x="6553080" y="283860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7500" lnSpcReduction="1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Build and packaging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"/>
          <p:cNvSpPr/>
          <p:nvPr/>
        </p:nvSpPr>
        <p:spPr>
          <a:xfrm>
            <a:off x="8286840" y="281952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77500" lnSpcReduction="1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Maven and executable WAR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"/>
          <p:cNvSpPr/>
          <p:nvPr/>
        </p:nvSpPr>
        <p:spPr>
          <a:xfrm>
            <a:off x="6286680" y="3619440"/>
            <a:ext cx="4857120" cy="742320"/>
          </a:xfrm>
          <a:prstGeom prst="roundRect">
            <a:avLst>
              <a:gd name="adj" fmla="val 17949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"/>
          <p:cNvSpPr/>
          <p:nvPr/>
        </p:nvSpPr>
        <p:spPr>
          <a:xfrm>
            <a:off x="6553080" y="3838680"/>
            <a:ext cx="166608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Deployment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"/>
          <p:cNvSpPr/>
          <p:nvPr/>
        </p:nvSpPr>
        <p:spPr>
          <a:xfrm>
            <a:off x="8286840" y="3819600"/>
            <a:ext cx="252324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5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Docker on Render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6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Expected completed experience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target system creates a simple, auditable journey for each marketplace participant.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08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149" name=""/>
          <p:cNvPicPr/>
          <p:nvPr/>
        </p:nvPicPr>
        <p:blipFill>
          <a:blip r:embed="rId1"/>
          <a:stretch/>
        </p:blipFill>
        <p:spPr>
          <a:xfrm>
            <a:off x="809640" y="1762200"/>
            <a:ext cx="2618640" cy="261864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150" name=""/>
          <p:cNvPicPr/>
          <p:nvPr/>
        </p:nvPicPr>
        <p:blipFill>
          <a:blip r:embed="rId2"/>
          <a:stretch/>
        </p:blipFill>
        <p:spPr>
          <a:xfrm>
            <a:off x="8429760" y="1762200"/>
            <a:ext cx="2618640" cy="26186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1" name=""/>
          <p:cNvSpPr/>
          <p:nvPr/>
        </p:nvSpPr>
        <p:spPr>
          <a:xfrm>
            <a:off x="800280" y="4781520"/>
            <a:ext cx="266616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Seller journey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"/>
          <p:cNvSpPr/>
          <p:nvPr/>
        </p:nvSpPr>
        <p:spPr>
          <a:xfrm>
            <a:off x="781200" y="5143680"/>
            <a:ext cx="2714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 algn="ctr"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Create account, submit artifact, await approval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"/>
          <p:cNvSpPr/>
          <p:nvPr/>
        </p:nvSpPr>
        <p:spPr>
          <a:xfrm>
            <a:off x="8439120" y="4781520"/>
            <a:ext cx="2571120" cy="28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18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Bidder journey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"/>
          <p:cNvSpPr/>
          <p:nvPr/>
        </p:nvSpPr>
        <p:spPr>
          <a:xfrm>
            <a:off x="8400960" y="5143680"/>
            <a:ext cx="2714040" cy="456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 algn="ctr">
              <a:lnSpc>
                <a:spcPct val="100000"/>
              </a:lnSpc>
            </a:pPr>
            <a:r>
              <a:rPr lang="en-US" sz="128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Browse live items, inspect details, place a valid bid</a:t>
            </a:r>
            <a:endParaRPr lang="en-US" sz="128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"/>
          <p:cNvSpPr/>
          <p:nvPr/>
        </p:nvSpPr>
        <p:spPr>
          <a:xfrm>
            <a:off x="3781440" y="2457360"/>
            <a:ext cx="4647600" cy="1571040"/>
          </a:xfrm>
          <a:prstGeom prst="roundRect">
            <a:avLst>
              <a:gd name="adj" fmla="val 13333"/>
            </a:avLst>
          </a:prstGeom>
          <a:solidFill>
            <a:srgbClr val="1026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"/>
          <p:cNvSpPr/>
          <p:nvPr/>
        </p:nvSpPr>
        <p:spPr>
          <a:xfrm>
            <a:off x="4143240" y="2800440"/>
            <a:ext cx="390456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 algn="ctr">
              <a:lnSpc>
                <a:spcPct val="100000"/>
              </a:lnSpc>
            </a:pPr>
            <a:r>
              <a:rPr lang="en-US" sz="202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Marketplace quality</a:t>
            </a:r>
            <a:endParaRPr lang="en-US" sz="202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"/>
          <p:cNvSpPr/>
          <p:nvPr/>
        </p:nvSpPr>
        <p:spPr>
          <a:xfrm>
            <a:off x="4095720" y="3257640"/>
            <a:ext cx="3999960" cy="494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Only approved items appear in the live catalogue.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>
              <a:lnSpc>
                <a:spcPct val="100000"/>
              </a:lnSpc>
            </a:pPr>
            <a:r>
              <a:rPr lang="en-US" sz="1350" b="0" u="none" strike="noStrike">
                <a:solidFill>
                  <a:srgbClr val="DCEBF0"/>
                </a:solidFill>
                <a:effectLst/>
                <a:uFillTx/>
                <a:latin typeface="C059"/>
                <a:ea typeface="C059"/>
              </a:rPr>
              <a:t>Bidding rules reject invalid actions.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7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"/>
          <p:cNvSpPr/>
          <p:nvPr/>
        </p:nvSpPr>
        <p:spPr>
          <a:xfrm>
            <a:off x="0" y="0"/>
            <a:ext cx="12191400" cy="1515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"/>
          <p:cNvSpPr/>
          <p:nvPr/>
        </p:nvSpPr>
        <p:spPr>
          <a:xfrm>
            <a:off x="666720" y="857160"/>
            <a:ext cx="9905400" cy="57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240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Expected outcome and future scope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"/>
          <p:cNvSpPr/>
          <p:nvPr/>
        </p:nvSpPr>
        <p:spPr>
          <a:xfrm>
            <a:off x="685800" y="1409760"/>
            <a:ext cx="9714960" cy="266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2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The project’s intended result is a structured auction workflow that can grow beyond the first release.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"/>
          <p:cNvSpPr/>
          <p:nvPr/>
        </p:nvSpPr>
        <p:spPr>
          <a:xfrm>
            <a:off x="10191600" y="6343560"/>
            <a:ext cx="1428120" cy="208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 algn="r">
              <a:lnSpc>
                <a:spcPct val="100000"/>
              </a:lnSpc>
            </a:pPr>
            <a:r>
              <a:rPr lang="en-US" sz="900" b="0" u="none" strike="noStrike">
                <a:solidFill>
                  <a:srgbClr val="54616D"/>
                </a:solidFill>
                <a:effectLst/>
                <a:uFillTx/>
                <a:latin typeface="C059"/>
                <a:ea typeface="C059"/>
              </a:rPr>
              <a:t>Artifact Alley  |  09</a:t>
            </a:r>
            <a:endParaRPr lang="en-US" sz="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"/>
          <p:cNvSpPr/>
          <p:nvPr/>
        </p:nvSpPr>
        <p:spPr>
          <a:xfrm>
            <a:off x="762120" y="1676520"/>
            <a:ext cx="4761720" cy="342828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"/>
          <p:cNvSpPr/>
          <p:nvPr/>
        </p:nvSpPr>
        <p:spPr>
          <a:xfrm>
            <a:off x="1123920" y="2048040"/>
            <a:ext cx="333288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>
              <a:lnSpc>
                <a:spcPct val="100000"/>
              </a:lnSpc>
            </a:pPr>
            <a:r>
              <a:rPr lang="en-US" sz="187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Expected outcome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"/>
          <p:cNvSpPr/>
          <p:nvPr/>
        </p:nvSpPr>
        <p:spPr>
          <a:xfrm>
            <a:off x="1123920" y="2647800"/>
            <a:ext cx="3761640" cy="15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/>
          </a:bodyPr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A single web platform where: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bidders participate in live auctions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sellers submit artifacts through review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administrators control marketplace entry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5" name=""/>
          <p:cNvSpPr/>
          <p:nvPr/>
        </p:nvSpPr>
        <p:spPr>
          <a:xfrm>
            <a:off x="6095880" y="1676520"/>
            <a:ext cx="5333400" cy="3428280"/>
          </a:xfrm>
          <a:prstGeom prst="roundRect">
            <a:avLst>
              <a:gd name="adj" fmla="val 5556"/>
            </a:avLst>
          </a:prstGeom>
          <a:solidFill>
            <a:srgbClr val="EAF3F4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"/>
          <p:cNvSpPr/>
          <p:nvPr/>
        </p:nvSpPr>
        <p:spPr>
          <a:xfrm>
            <a:off x="6515280" y="2048040"/>
            <a:ext cx="3714120" cy="30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19999"/>
          </a:bodyPr>
          <a:p>
            <a:pPr>
              <a:lnSpc>
                <a:spcPct val="100000"/>
              </a:lnSpc>
            </a:pPr>
            <a:r>
              <a:rPr lang="en-US" sz="1870" b="1" u="none" strike="noStrike">
                <a:solidFill>
                  <a:srgbClr val="10263F"/>
                </a:solidFill>
                <a:effectLst/>
                <a:uFillTx/>
                <a:latin typeface="C059"/>
                <a:ea typeface="C059"/>
              </a:rPr>
              <a:t>Next planned capabilities</a:t>
            </a:r>
            <a:endParaRPr lang="en-US" sz="187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"/>
          <p:cNvSpPr/>
          <p:nvPr/>
        </p:nvSpPr>
        <p:spPr>
          <a:xfrm>
            <a:off x="6515280" y="2647800"/>
            <a:ext cx="4190400" cy="1571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Artifact photos and richer catalogue information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Seller dashboard for submitted listings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430" b="0" u="none" strike="noStrike">
                <a:solidFill>
                  <a:srgbClr val="17212B"/>
                </a:solidFill>
                <a:effectLst/>
                <a:uFillTx/>
                <a:latin typeface="C059"/>
                <a:ea typeface="C059"/>
              </a:rPr>
              <a:t>• Auction closing logic, winner notification, and payment integration</a:t>
            </a:r>
            <a:endParaRPr lang="en-US" sz="143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0263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"/>
          <p:cNvSpPr/>
          <p:nvPr/>
        </p:nvSpPr>
        <p:spPr>
          <a:xfrm>
            <a:off x="0" y="0"/>
            <a:ext cx="12191400" cy="6857280"/>
          </a:xfrm>
          <a:prstGeom prst="rect">
            <a:avLst/>
          </a:prstGeom>
          <a:solidFill>
            <a:srgbClr val="10263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9" name=""/>
          <p:cNvSpPr/>
          <p:nvPr/>
        </p:nvSpPr>
        <p:spPr>
          <a:xfrm>
            <a:off x="0" y="0"/>
            <a:ext cx="12191400" cy="11376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"/>
          <p:cNvSpPr/>
          <p:nvPr/>
        </p:nvSpPr>
        <p:spPr>
          <a:xfrm>
            <a:off x="914400" y="1571760"/>
            <a:ext cx="7619400" cy="58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3600" b="1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Artifact Alley</a:t>
            </a:r>
            <a:endParaRPr lang="en-US" sz="36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1" name=""/>
          <p:cNvSpPr/>
          <p:nvPr/>
        </p:nvSpPr>
        <p:spPr>
          <a:xfrm>
            <a:off x="933480" y="2333520"/>
            <a:ext cx="7333560" cy="32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92500" lnSpcReduction="9999"/>
          </a:bodyPr>
          <a:p>
            <a:pPr>
              <a:lnSpc>
                <a:spcPct val="100000"/>
              </a:lnSpc>
            </a:pPr>
            <a:r>
              <a:rPr lang="en-US" sz="1800" b="0" u="none" strike="noStrike">
                <a:solidFill>
                  <a:srgbClr val="CBE3E4"/>
                </a:solidFill>
                <a:effectLst/>
                <a:uFillTx/>
                <a:latin typeface="C059"/>
                <a:ea typeface="C059"/>
              </a:rPr>
              <a:t>A proposed online auction platform for artifacts and antiques</a:t>
            </a:r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2" name=""/>
          <p:cNvSpPr/>
          <p:nvPr/>
        </p:nvSpPr>
        <p:spPr>
          <a:xfrm>
            <a:off x="933480" y="3371760"/>
            <a:ext cx="4952160" cy="37440"/>
          </a:xfrm>
          <a:prstGeom prst="rect">
            <a:avLst/>
          </a:prstGeom>
          <a:solidFill>
            <a:srgbClr val="D99A31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-6840" rIns="90000" bIns="-684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"/>
          <p:cNvSpPr/>
          <p:nvPr/>
        </p:nvSpPr>
        <p:spPr>
          <a:xfrm>
            <a:off x="933480" y="3809880"/>
            <a:ext cx="6666840" cy="808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lnSpcReduction="9999"/>
          </a:bodyPr>
          <a:p>
            <a:pPr>
              <a:lnSpc>
                <a:spcPct val="100000"/>
              </a:lnSpc>
            </a:pPr>
            <a:r>
              <a:rPr lang="en-US" sz="1729" b="0" u="none" strike="noStrike">
                <a:solidFill>
                  <a:srgbClr val="FFFFFF"/>
                </a:solidFill>
                <a:effectLst/>
                <a:uFillTx/>
                <a:latin typeface="C059"/>
                <a:ea typeface="C059"/>
              </a:rPr>
              <a:t>The finished project will combine secure role-based access, controlled artifact approval, and valid bidding rules in one Spring-powered web application.</a:t>
            </a:r>
            <a:endParaRPr lang="en-US" sz="1729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4" name=""/>
          <p:cNvSpPr/>
          <p:nvPr/>
        </p:nvSpPr>
        <p:spPr>
          <a:xfrm>
            <a:off x="933480" y="5343480"/>
            <a:ext cx="2189880" cy="36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rmAutofit fontScale="85000" lnSpcReduction="9999"/>
          </a:bodyPr>
          <a:p>
            <a:pPr>
              <a:lnSpc>
                <a:spcPct val="100000"/>
              </a:lnSpc>
            </a:pPr>
            <a:r>
              <a:rPr lang="en-US" sz="2170" b="1" u="none" strike="noStrike">
                <a:solidFill>
                  <a:srgbClr val="D99A31"/>
                </a:solidFill>
                <a:effectLst/>
                <a:uFillTx/>
                <a:latin typeface="C059"/>
                <a:ea typeface="C059"/>
              </a:rPr>
              <a:t>Thank you</a:t>
            </a:r>
            <a:endParaRPr lang="en-US" sz="217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 pitchFamily="0" charset="1"/>
        <a:ea typeface="Calibri Light" pitchFamily="0" charset="1"/>
        <a:cs typeface="Calibri Light" pitchFamily="0" charset="1"/>
      </a:majorFont>
      <a:minorFont>
        <a:latin typeface="Calibri" pitchFamily="0" charset="1"/>
        <a:ea typeface="Calibri" pitchFamily="0" charset="1"/>
        <a:cs typeface="Calibri" pitchFamily="0" charset="1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</a:schemeClr>
            </a:gs>
            <a:gs pos="50000">
              <a:schemeClr val="phClr">
                <a:tint val="73000"/>
                <a:lumMod val="105000"/>
              </a:schemeClr>
            </a:gs>
            <a:gs pos="100000">
              <a:schemeClr val="phClr">
                <a:tint val="81000"/>
                <a:lumMod val="105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tint val="94000"/>
                <a:lumMod val="102000"/>
              </a:schemeClr>
            </a:gs>
            <a:gs pos="50000">
              <a:schemeClr val="phClr">
                <a:shade val="100000"/>
                <a:lumMod val="100000"/>
              </a:schemeClr>
            </a:gs>
            <a:gs pos="100000">
              <a:schemeClr val="phClr">
                <a:shade val="78000"/>
                <a:lumMod val="99000"/>
              </a:schemeClr>
            </a:gs>
          </a:gsLst>
          <a:lin ang="5400000" scaled="0"/>
          <a:tileRect l="0" t="0" r="0" b="0"/>
        </a:gradFill>
      </a:fillStyleLst>
      <a:lnStyleLst>
        <a:ln w="12700">
          <a:prstDash val="solid"/>
        </a:ln>
        <a:ln w="19050">
          <a:prstDash val="solid"/>
        </a:ln>
        <a:ln w="254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14</TotalTime>
  <Application>LibreOffice/26.2.5.2$Linux_X86_64 LibreOffice_project/620$Build-2</Application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2026-09-23T02:51:51Z</dcterms:created>
  <dc:creator>Walnut Exporter</dc:creator>
  <dc:description/>
  <dc:language>en-US</dc:language>
  <cp:lastModifiedBy/>
  <dcterms:modified xsi:type="dcterms:W3CDTF">2026-09-23T16:08:53Z</dcterms:modified>
  <cp:revision>3</cp:revision>
  <dc:subject/>
  <dc:title>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Converted Presentation</vt:lpwstr>
  </property>
</Properties>
</file>
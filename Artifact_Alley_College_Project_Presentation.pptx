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45FD79C-4C50-42CE-88FF-955B5F012C2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deck presents the intended completed version of Artifact Alley. It does not claim that every planned feature is already implemented.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 presentation convention used: state the problem first, then explain the solution in plain terms.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Technology choices are based on the repository pom.xml and deployment documentation.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Research-informed flow used for this presentation: problem, solution, objectives, architecture, technology, expected result, and future scope. Sources consulted: University of Washington CSE 403 demo guidance and final-year software project presentation examples.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form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0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667640" y="914400"/>
            <a:ext cx="3428640" cy="3428640"/>
          </a:xfrm>
          <a:prstGeom prst="roundRect">
            <a:avLst>
              <a:gd name="adj" fmla="val 50000"/>
            </a:avLst>
          </a:prstGeom>
          <a:solidFill>
            <a:srgbClr val="2D8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7905600" y="1162080"/>
            <a:ext cx="2952360" cy="295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/>
          <p:nvPr/>
        </p:nvSpPr>
        <p:spPr>
          <a:xfrm>
            <a:off x="781200" y="1447920"/>
            <a:ext cx="61909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Artifact Alley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800280" y="2209680"/>
            <a:ext cx="561924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950" b="0" u="none" strike="noStrike">
                <a:solidFill>
                  <a:srgbClr val="CBE3E4"/>
                </a:solidFill>
                <a:effectLst/>
                <a:uFillTx/>
                <a:latin typeface="C059"/>
                <a:ea typeface="C059"/>
              </a:rPr>
              <a:t>Online Auction Platform for Artifacts and Antiques</a:t>
            </a:r>
            <a:endParaRPr lang="en-US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800280" y="3105000"/>
            <a:ext cx="35240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00280" y="3600360"/>
            <a:ext cx="4238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Proposed completed-system overview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800280" y="4457880"/>
            <a:ext cx="528588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DDE8EE"/>
                </a:solidFill>
                <a:effectLst/>
                <a:uFillTx/>
                <a:latin typeface="C059"/>
                <a:ea typeface="C059"/>
              </a:rPr>
              <a:t>A role-based platform for trusted artifact discovery, approval, and bidding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Why Artifact Alley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The project addresses the difficulty of organizing trusted online auctions for artifacts and antiques.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85800" y="1657440"/>
            <a:ext cx="4743000" cy="373356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066680" y="2038320"/>
            <a:ext cx="31428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Current difficulty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1066680" y="2629080"/>
            <a:ext cx="3762000" cy="17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58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Collectors need a clear way to discover items, follow active auctions, and place bids. Sellers need a controlled path to publish listings. An administrator needs oversight before an item appears publicly.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114960" y="1657440"/>
            <a:ext cx="5381280" cy="3733560"/>
          </a:xfrm>
          <a:prstGeom prst="roundRect">
            <a:avLst>
              <a:gd name="adj" fmla="val 5102"/>
            </a:avLst>
          </a:prstGeom>
          <a:solidFill>
            <a:srgbClr val="EAF3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534000" y="2038320"/>
            <a:ext cx="34286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Project response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534000" y="2724120"/>
            <a:ext cx="514080" cy="514080"/>
          </a:xfrm>
          <a:prstGeom prst="roundRect">
            <a:avLst>
              <a:gd name="adj" fmla="val 50000"/>
            </a:avLst>
          </a:prstGeom>
          <a:solidFill>
            <a:srgbClr val="2D8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534000" y="2819520"/>
            <a:ext cx="51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7219800" y="2752560"/>
            <a:ext cx="2381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Discover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7219800" y="3067200"/>
            <a:ext cx="27144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17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Browse a curated catalogue of live auction items.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534000" y="3714840"/>
            <a:ext cx="514080" cy="514080"/>
          </a:xfrm>
          <a:prstGeom prst="roundRect">
            <a:avLst>
              <a:gd name="adj" fmla="val 50000"/>
            </a:avLst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534000" y="3809880"/>
            <a:ext cx="51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219800" y="3743280"/>
            <a:ext cx="2381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Participate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219800" y="4057560"/>
            <a:ext cx="27144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17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Sign in and place a valid bid on an active item.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534000" y="4705200"/>
            <a:ext cx="514080" cy="514080"/>
          </a:xfrm>
          <a:prstGeom prst="roundRect">
            <a:avLst>
              <a:gd name="adj" fmla="val 50000"/>
            </a:avLst>
          </a:prstGeom>
          <a:solidFill>
            <a:srgbClr val="1B5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534000" y="4800600"/>
            <a:ext cx="51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219800" y="4734000"/>
            <a:ext cx="23810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58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Supervise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219800" y="5048280"/>
            <a:ext cx="27144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17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Review seller submissions before public release.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Project objectives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The completed system will support the main auction journey while keeping actions tied to user roles.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85800" y="1657440"/>
            <a:ext cx="5047920" cy="1523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952560" y="1952640"/>
            <a:ext cx="132840" cy="914040"/>
          </a:xfrm>
          <a:prstGeom prst="roundRect">
            <a:avLst>
              <a:gd name="adj" fmla="val 50000"/>
            </a:avLst>
          </a:prstGeom>
          <a:solidFill>
            <a:srgbClr val="2D8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314360" y="195264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Trusted access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314360" y="2381400"/>
            <a:ext cx="3904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Create accounts and sign in with server-side validation and secure password storage.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114960" y="1657440"/>
            <a:ext cx="5047920" cy="1523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381720" y="1952640"/>
            <a:ext cx="132840" cy="914040"/>
          </a:xfrm>
          <a:prstGeom prst="roundRect">
            <a:avLst>
              <a:gd name="adj" fmla="val 50000"/>
            </a:avLst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743880" y="195264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Controlled listing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743880" y="2381400"/>
            <a:ext cx="3904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Let sellers submit artifact listings for review before publication.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3610080"/>
            <a:ext cx="5047920" cy="1523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952560" y="3905280"/>
            <a:ext cx="132840" cy="914040"/>
          </a:xfrm>
          <a:prstGeom prst="roundRect">
            <a:avLst>
              <a:gd name="adj" fmla="val 50000"/>
            </a:avLst>
          </a:prstGeom>
          <a:solidFill>
            <a:srgbClr val="2D8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314360" y="39052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Fair bidding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314360" y="4334040"/>
            <a:ext cx="3904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Accept bids only when the auction is live and the amount meets the required minimum.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114960" y="3610080"/>
            <a:ext cx="5047920" cy="1523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381720" y="3905280"/>
            <a:ext cx="132840" cy="914040"/>
          </a:xfrm>
          <a:prstGeom prst="roundRect">
            <a:avLst>
              <a:gd name="adj" fmla="val 50000"/>
            </a:avLst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743880" y="3905280"/>
            <a:ext cx="40003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729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Administrative review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743880" y="4334040"/>
            <a:ext cx="39049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28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Allow an administrator to approve suitable submissions and manage the marketplace.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Users and responsibilities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Role-based access keeps each part of the marketplace focused and accountable.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19000" y="1752480"/>
            <a:ext cx="3142800" cy="30477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819000" y="1752480"/>
            <a:ext cx="3142800" cy="95040"/>
          </a:xfrm>
          <a:prstGeom prst="rect">
            <a:avLst/>
          </a:prstGeom>
          <a:solidFill>
            <a:srgbClr val="2D8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143000" y="2209680"/>
            <a:ext cx="2476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Bidder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143000" y="2876400"/>
            <a:ext cx="238104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Browse live auctions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View auction details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Place valid bids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4533840" y="1752480"/>
            <a:ext cx="3142800" cy="30477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533840" y="1752480"/>
            <a:ext cx="3142800" cy="9504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857840" y="2209680"/>
            <a:ext cx="2476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Seller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857840" y="2876400"/>
            <a:ext cx="238104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Register as a seller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Submit an artifact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Track approval status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248680" y="1752480"/>
            <a:ext cx="3142800" cy="3047760"/>
          </a:xfrm>
          <a:prstGeom prst="roundRect">
            <a:avLst>
              <a:gd name="adj" fmla="val 6250"/>
            </a:avLst>
          </a:prstGeom>
          <a:solidFill>
            <a:srgbClr val="10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248680" y="1752480"/>
            <a:ext cx="3142800" cy="95040"/>
          </a:xfrm>
          <a:prstGeom prst="rect">
            <a:avLst/>
          </a:prstGeom>
          <a:solidFill>
            <a:srgbClr val="2D8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8572680" y="2209680"/>
            <a:ext cx="2476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202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Administrator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572680" y="2876400"/>
            <a:ext cx="238104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DCEBF0"/>
                </a:solidFill>
                <a:effectLst/>
                <a:uFillTx/>
                <a:latin typeface="C059"/>
                <a:ea typeface="C059"/>
              </a:rPr>
              <a:t>Review pending listings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DCEBF0"/>
                </a:solidFill>
                <a:effectLst/>
                <a:uFillTx/>
                <a:latin typeface="C059"/>
                <a:ea typeface="C059"/>
              </a:rPr>
              <a:t>Approve listings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DCEBF0"/>
                </a:solidFill>
                <a:effectLst/>
                <a:uFillTx/>
                <a:latin typeface="C059"/>
                <a:ea typeface="C059"/>
              </a:rPr>
              <a:t>Maintain marketplace quality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523880" y="5381640"/>
            <a:ext cx="91436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430" b="0" u="none" strike="noStrike">
                <a:solidFill>
                  <a:srgbClr val="1B5E7A"/>
                </a:solidFill>
                <a:effectLst/>
                <a:uFillTx/>
                <a:latin typeface="C059"/>
                <a:ea typeface="C059"/>
              </a:rPr>
              <a:t>A visitor may browse the catalogue. Account-only actions require the relevant role.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How the completed system will work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The public auction flow begins with a seller submission and ends with a bidder action on a live listing.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762120" y="2762280"/>
            <a:ext cx="1952280" cy="119016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952560" y="3095640"/>
            <a:ext cx="1571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Seller submits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artifact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238560" y="2762280"/>
            <a:ext cx="1952280" cy="119016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429000" y="3095640"/>
            <a:ext cx="1571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Admin reviews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submission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715000" y="2762280"/>
            <a:ext cx="1952280" cy="1190160"/>
          </a:xfrm>
          <a:prstGeom prst="roundRect">
            <a:avLst>
              <a:gd name="adj" fmla="val 14400"/>
            </a:avLst>
          </a:prstGeom>
          <a:solidFill>
            <a:srgbClr val="2D8C9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905440" y="3095640"/>
            <a:ext cx="1571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Approved listing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becomes live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8191440" y="2762280"/>
            <a:ext cx="1952280" cy="119016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381880" y="3095640"/>
            <a:ext cx="1571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Bidder views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and bids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"/>
          <p:cNvCxnSpPr>
            <a:stCxn id="83" idx="3"/>
            <a:endCxn id="85" idx="1"/>
          </p:cNvCxnSpPr>
          <p:nvPr/>
        </p:nvCxnSpPr>
        <p:spPr>
          <a:xfrm>
            <a:off x="2714400" y="3357360"/>
            <a:ext cx="524520" cy="360"/>
          </a:xfrm>
          <a:prstGeom prst="straightConnector1">
            <a:avLst/>
          </a:prstGeom>
          <a:ln w="28575">
            <a:solidFill>
              <a:srgbClr val="D99A31"/>
            </a:solidFill>
            <a:round/>
            <a:tailEnd len="med" type="arrow" w="med"/>
          </a:ln>
        </p:spPr>
      </p:cxnSp>
      <p:cxnSp>
        <p:nvCxnSpPr>
          <p:cNvPr id="92" name=""/>
          <p:cNvCxnSpPr>
            <a:stCxn id="85" idx="3"/>
            <a:endCxn id="87" idx="1"/>
          </p:cNvCxnSpPr>
          <p:nvPr/>
        </p:nvCxnSpPr>
        <p:spPr>
          <a:xfrm>
            <a:off x="5190840" y="3357360"/>
            <a:ext cx="524520" cy="360"/>
          </a:xfrm>
          <a:prstGeom prst="straightConnector1">
            <a:avLst/>
          </a:prstGeom>
          <a:ln w="28575">
            <a:solidFill>
              <a:srgbClr val="D99A31"/>
            </a:solidFill>
            <a:round/>
            <a:tailEnd len="med" type="arrow" w="med"/>
          </a:ln>
        </p:spPr>
      </p:cxnSp>
      <p:cxnSp>
        <p:nvCxnSpPr>
          <p:cNvPr id="93" name=""/>
          <p:cNvCxnSpPr>
            <a:stCxn id="87" idx="3"/>
            <a:endCxn id="89" idx="1"/>
          </p:cNvCxnSpPr>
          <p:nvPr/>
        </p:nvCxnSpPr>
        <p:spPr>
          <a:xfrm>
            <a:off x="7667280" y="3357360"/>
            <a:ext cx="524520" cy="360"/>
          </a:xfrm>
          <a:prstGeom prst="straightConnector1">
            <a:avLst/>
          </a:prstGeom>
          <a:ln w="28575">
            <a:solidFill>
              <a:srgbClr val="D99A31"/>
            </a:solidFill>
            <a:round/>
            <a:tailEnd len="med" type="arrow" w="med"/>
          </a:ln>
        </p:spPr>
      </p:cxnSp>
      <p:sp>
        <p:nvSpPr>
          <p:cNvPr id="94" name=""/>
          <p:cNvSpPr/>
          <p:nvPr/>
        </p:nvSpPr>
        <p:spPr>
          <a:xfrm>
            <a:off x="1714680" y="4896000"/>
            <a:ext cx="87627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Approval protects the public catalogue. Bid rules protect the auction process.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Proposed system architecture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 layered Spring application separates the browser experience, business rules, and stored data.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838080" y="2619360"/>
            <a:ext cx="2095200" cy="1142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3857760" y="2333520"/>
            <a:ext cx="2381040" cy="1714320"/>
          </a:xfrm>
          <a:prstGeom prst="roundRect">
            <a:avLst>
              <a:gd name="adj" fmla="val 10000"/>
            </a:avLst>
          </a:prstGeom>
          <a:solidFill>
            <a:srgbClr val="EAF3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219800" y="2619360"/>
            <a:ext cx="2095200" cy="1142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0134720" y="2619360"/>
            <a:ext cx="1285560" cy="1142640"/>
          </a:xfrm>
          <a:prstGeom prst="roundRect">
            <a:avLst>
              <a:gd name="adj" fmla="val 15000"/>
            </a:avLst>
          </a:prstGeom>
          <a:solidFill>
            <a:srgbClr val="10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162080" y="2857680"/>
            <a:ext cx="14760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Browser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162080" y="3247920"/>
            <a:ext cx="14760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JSP pages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CSS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191120" y="2571840"/>
            <a:ext cx="1714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87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Spring Boot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191120" y="3029040"/>
            <a:ext cx="17143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Spring MVC controllers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Services and validation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Spring Data JPA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562880" y="2857680"/>
            <a:ext cx="1428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Database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496280" y="3247920"/>
            <a:ext cx="15714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H2 for local work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PostgreSQL for deployment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0287000" y="2886120"/>
            <a:ext cx="952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Deploy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10287000" y="3286080"/>
            <a:ext cx="952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DCEBF0"/>
                </a:solidFill>
                <a:effectLst/>
                <a:uFillTx/>
                <a:latin typeface="C059"/>
                <a:ea typeface="C059"/>
              </a:rPr>
              <a:t>Render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1" name=""/>
          <p:cNvCxnSpPr>
            <a:stCxn id="99" idx="3"/>
            <a:endCxn id="100" idx="1"/>
          </p:cNvCxnSpPr>
          <p:nvPr/>
        </p:nvCxnSpPr>
        <p:spPr>
          <a:xfrm>
            <a:off x="2933280" y="3190680"/>
            <a:ext cx="924840" cy="360"/>
          </a:xfrm>
          <a:prstGeom prst="straightConnector1">
            <a:avLst/>
          </a:prstGeom>
          <a:ln w="28575">
            <a:solidFill>
              <a:srgbClr val="D99A31"/>
            </a:solidFill>
            <a:round/>
            <a:tailEnd len="med" type="arrow" w="med"/>
          </a:ln>
        </p:spPr>
      </p:cxnSp>
      <p:cxnSp>
        <p:nvCxnSpPr>
          <p:cNvPr id="112" name=""/>
          <p:cNvCxnSpPr>
            <a:stCxn id="100" idx="3"/>
            <a:endCxn id="101" idx="1"/>
          </p:cNvCxnSpPr>
          <p:nvPr/>
        </p:nvCxnSpPr>
        <p:spPr>
          <a:xfrm>
            <a:off x="6238800" y="3190680"/>
            <a:ext cx="981360" cy="360"/>
          </a:xfrm>
          <a:prstGeom prst="straightConnector1">
            <a:avLst/>
          </a:prstGeom>
          <a:ln w="28575">
            <a:solidFill>
              <a:srgbClr val="D99A31"/>
            </a:solidFill>
            <a:round/>
            <a:tailEnd len="med" type="arrow" w="med"/>
          </a:ln>
        </p:spPr>
      </p:cxnSp>
      <p:cxnSp>
        <p:nvCxnSpPr>
          <p:cNvPr id="113" name=""/>
          <p:cNvCxnSpPr>
            <a:stCxn id="101" idx="3"/>
            <a:endCxn id="102" idx="1"/>
          </p:cNvCxnSpPr>
          <p:nvPr/>
        </p:nvCxnSpPr>
        <p:spPr>
          <a:xfrm>
            <a:off x="9315000" y="3190680"/>
            <a:ext cx="820080" cy="360"/>
          </a:xfrm>
          <a:prstGeom prst="straightConnector1">
            <a:avLst/>
          </a:prstGeom>
          <a:ln w="28575">
            <a:solidFill>
              <a:srgbClr val="D99A31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Technology stack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The stack matches the Java syllabus and supports a server-rendered web application.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905040" y="1619280"/>
            <a:ext cx="4857480" cy="74268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171440" y="1838160"/>
            <a:ext cx="1666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Language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2905200" y="1819440"/>
            <a:ext cx="2523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Java 21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905040" y="2619360"/>
            <a:ext cx="4857480" cy="74268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1171440" y="2838600"/>
            <a:ext cx="1666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Framework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2905200" y="2819520"/>
            <a:ext cx="2523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Spring Boot 3.5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905040" y="3619440"/>
            <a:ext cx="4857480" cy="74268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171440" y="3838680"/>
            <a:ext cx="1666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Web layer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2905200" y="3819600"/>
            <a:ext cx="2523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Spring MVC and JSP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05040" y="4619520"/>
            <a:ext cx="4857480" cy="74268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171440" y="4838760"/>
            <a:ext cx="1666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Data access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905200" y="4819680"/>
            <a:ext cx="2523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Spring Data JPA and JDBC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286680" y="1619280"/>
            <a:ext cx="4857480" cy="74268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553080" y="1838160"/>
            <a:ext cx="1666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Database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8286840" y="1819440"/>
            <a:ext cx="2523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62500" lnSpcReduction="1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H2 locally; PostgreSQL in production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286680" y="2619360"/>
            <a:ext cx="4857480" cy="74268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6553080" y="2838600"/>
            <a:ext cx="1666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Build and packaging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8286840" y="2819520"/>
            <a:ext cx="2523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7500" lnSpcReduction="1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Maven and executable WAR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286680" y="3619440"/>
            <a:ext cx="4857480" cy="742680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6553080" y="3838680"/>
            <a:ext cx="16664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350" b="1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Deployment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8286840" y="3819600"/>
            <a:ext cx="252360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Docker on Render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Expected completed experience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The target system creates a simple, auditable journey for each marketplace participant.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"/>
          <p:cNvPicPr/>
          <p:nvPr/>
        </p:nvPicPr>
        <p:blipFill>
          <a:blip r:embed="rId1"/>
          <a:stretch/>
        </p:blipFill>
        <p:spPr>
          <a:xfrm>
            <a:off x="809640" y="1762200"/>
            <a:ext cx="2619000" cy="26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"/>
          <p:cNvPicPr/>
          <p:nvPr/>
        </p:nvPicPr>
        <p:blipFill>
          <a:blip r:embed="rId2"/>
          <a:stretch/>
        </p:blipFill>
        <p:spPr>
          <a:xfrm>
            <a:off x="8429760" y="1762200"/>
            <a:ext cx="2619000" cy="261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800280" y="4781520"/>
            <a:ext cx="2666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Seller journey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781200" y="5143680"/>
            <a:ext cx="271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Create account, submit artifact, await approval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8439120" y="4781520"/>
            <a:ext cx="257148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Bidder journey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8400960" y="5143680"/>
            <a:ext cx="271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Browse live items, inspect details, place a valid bid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781440" y="2457360"/>
            <a:ext cx="4647960" cy="1571400"/>
          </a:xfrm>
          <a:prstGeom prst="roundRect">
            <a:avLst>
              <a:gd name="adj" fmla="val 13333"/>
            </a:avLst>
          </a:prstGeom>
          <a:solidFill>
            <a:srgbClr val="10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143240" y="2800440"/>
            <a:ext cx="39049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algn="ctr">
              <a:lnSpc>
                <a:spcPct val="100000"/>
              </a:lnSpc>
            </a:pPr>
            <a:r>
              <a:rPr lang="en-US" sz="202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Marketplace quality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4095720" y="3257640"/>
            <a:ext cx="40003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DCEBF0"/>
                </a:solidFill>
                <a:effectLst/>
                <a:uFillTx/>
                <a:latin typeface="C059"/>
                <a:ea typeface="C059"/>
              </a:rPr>
              <a:t>Only approved items appear in the live catalogue.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350" b="0" u="none" strike="noStrike">
                <a:solidFill>
                  <a:srgbClr val="DCEBF0"/>
                </a:solidFill>
                <a:effectLst/>
                <a:uFillTx/>
                <a:latin typeface="C059"/>
                <a:ea typeface="C059"/>
              </a:rPr>
              <a:t>Bidding rules reject invalid actions.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0" y="0"/>
            <a:ext cx="12191760" cy="1519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66720" y="857160"/>
            <a:ext cx="9905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Expected outcome and future scope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685800" y="1409760"/>
            <a:ext cx="97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The project’s intended result is a structured auction workflow that can grow beyond the first release.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0191600" y="6343560"/>
            <a:ext cx="14284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algn="r">
              <a:lnSpc>
                <a:spcPct val="100000"/>
              </a:lnSpc>
            </a:pPr>
            <a:r>
              <a:rPr lang="en-US" sz="900" b="0" u="none" strike="noStrike">
                <a:solidFill>
                  <a:srgbClr val="54616D"/>
                </a:solidFill>
                <a:effectLst/>
                <a:uFillTx/>
                <a:latin typeface="C059"/>
                <a:ea typeface="C059"/>
              </a:rPr>
              <a:t>Artifact Alley  |  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762120" y="1676520"/>
            <a:ext cx="4762080" cy="342864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23920" y="2048040"/>
            <a:ext cx="33332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Expected outcome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123920" y="2647800"/>
            <a:ext cx="376200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A single web platform where: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• bidders participate in live auctions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• sellers submit artifacts through review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• administrators control marketplace entry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095880" y="1676520"/>
            <a:ext cx="5333760" cy="3428640"/>
          </a:xfrm>
          <a:prstGeom prst="roundRect">
            <a:avLst>
              <a:gd name="adj" fmla="val 5556"/>
            </a:avLst>
          </a:prstGeom>
          <a:solidFill>
            <a:srgbClr val="EAF3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515280" y="2048040"/>
            <a:ext cx="37144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ct val="100000"/>
              </a:lnSpc>
            </a:pPr>
            <a:r>
              <a:rPr lang="en-US" sz="1870" b="1" u="none" strike="noStrike">
                <a:solidFill>
                  <a:srgbClr val="10263F"/>
                </a:solidFill>
                <a:effectLst/>
                <a:uFillTx/>
                <a:latin typeface="C059"/>
                <a:ea typeface="C059"/>
              </a:rPr>
              <a:t>Next planned capabilities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6515280" y="2647800"/>
            <a:ext cx="4190760" cy="157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• Artifact photos and richer catalogue information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• Seller dashboard for submitted listings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30" b="0" u="none" strike="noStrike">
                <a:solidFill>
                  <a:srgbClr val="17212B"/>
                </a:solidFill>
                <a:effectLst/>
                <a:uFillTx/>
                <a:latin typeface="C059"/>
                <a:ea typeface="C059"/>
              </a:rPr>
              <a:t>• Auction closing logic, winner notification, and payment integration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2343240" y="5581800"/>
            <a:ext cx="75243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algn="ctr">
              <a:lnSpc>
                <a:spcPct val="100000"/>
              </a:lnSpc>
            </a:pPr>
            <a:r>
              <a:rPr lang="en-US" sz="1280" b="0" u="none" strike="noStrike">
                <a:solidFill>
                  <a:srgbClr val="1B5E7A"/>
                </a:solidFill>
                <a:effectLst/>
                <a:uFillTx/>
                <a:latin typeface="C059"/>
                <a:ea typeface="C059"/>
              </a:rPr>
              <a:t>Future scope items are proposed, not presented as completed features.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026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914400" y="1571760"/>
            <a:ext cx="761976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Artifact Alley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933480" y="2333520"/>
            <a:ext cx="73339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CBE3E4"/>
                </a:solidFill>
                <a:effectLst/>
                <a:uFillTx/>
                <a:latin typeface="C059"/>
                <a:ea typeface="C059"/>
              </a:rPr>
              <a:t>A proposed online auction platform for artifacts and antiques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33480" y="3371760"/>
            <a:ext cx="4952520" cy="37800"/>
          </a:xfrm>
          <a:prstGeom prst="rect">
            <a:avLst/>
          </a:prstGeom>
          <a:solidFill>
            <a:srgbClr val="D99A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933480" y="3809880"/>
            <a:ext cx="6667200" cy="80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ct val="100000"/>
              </a:lnSpc>
            </a:pPr>
            <a:r>
              <a:rPr lang="en-US" sz="1729" b="0" u="none" strike="noStrike">
                <a:solidFill>
                  <a:srgbClr val="FFFFFF"/>
                </a:solidFill>
                <a:effectLst/>
                <a:uFillTx/>
                <a:latin typeface="C059"/>
                <a:ea typeface="C059"/>
              </a:rPr>
              <a:t>The finished project will combine secure role-based access, controlled artifact approval, and valid bidding rules in one Spring-powered web application.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933480" y="534348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>
              <a:lnSpc>
                <a:spcPct val="100000"/>
              </a:lnSpc>
            </a:pPr>
            <a:r>
              <a:rPr lang="en-US" sz="2170" b="1" u="none" strike="noStrike">
                <a:solidFill>
                  <a:srgbClr val="D99A31"/>
                </a:solidFill>
                <a:effectLst/>
                <a:uFillTx/>
                <a:latin typeface="C059"/>
                <a:ea typeface="C059"/>
              </a:rPr>
              <a:t>Thank you</a:t>
            </a:r>
            <a:endParaRPr lang="en-US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2026-09-23T02:51:51Z</dcterms:created>
  <dc:creator>Walnut Exporter</dc:creator>
  <dc:description/>
  <dc:language>en-US</dc:language>
  <cp:lastModifiedBy/>
  <dcterms:modified xsi:type="dcterms:W3CDTF">2026-09-23T08:23:39Z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
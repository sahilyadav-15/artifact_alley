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4404c91d1e47f1" /><Relationship Type="http://schemas.openxmlformats.org/officeDocument/2006/relationships/extended-properties" Target="/docProps/app.xml" Id="Rfc9ad81a7d0b4547" /><Relationship Type="http://schemas.openxmlformats.org/officeDocument/2006/relationships/officeDocument" Target="/ppt/presentation.xml" Id="R51cd8049afc647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a1d37f13de4d2d"/>
  </p:sldMasterIdLst>
  <p:notesMasterIdLst>
    <p:notesMasterId xmlns:r="http://schemas.openxmlformats.org/officeDocument/2006/relationships" r:id="R626773b6bfeb48d1"/>
  </p:notesMasterIdLst>
  <p:sldIdLst>
    <p:sldId xmlns:r="http://schemas.openxmlformats.org/officeDocument/2006/relationships" id="256" r:id="Rab33d2b1ebd44bab"/>
    <p:sldId xmlns:r="http://schemas.openxmlformats.org/officeDocument/2006/relationships" id="257" r:id="R09ceaa9da0644d7d"/>
    <p:sldId xmlns:r="http://schemas.openxmlformats.org/officeDocument/2006/relationships" id="258" r:id="Rce6d80ccb4e74cf8"/>
    <p:sldId xmlns:r="http://schemas.openxmlformats.org/officeDocument/2006/relationships" id="259" r:id="R50ade5046bec4d53"/>
    <p:sldId xmlns:r="http://schemas.openxmlformats.org/officeDocument/2006/relationships" id="260" r:id="Rf27e6d77ba1d488a"/>
    <p:sldId xmlns:r="http://schemas.openxmlformats.org/officeDocument/2006/relationships" id="261" r:id="R17030d946f2e41c3"/>
    <p:sldId xmlns:r="http://schemas.openxmlformats.org/officeDocument/2006/relationships" id="262" r:id="R3d5408b56d404931"/>
    <p:sldId xmlns:r="http://schemas.openxmlformats.org/officeDocument/2006/relationships" id="263" r:id="R01d97b63a45d4430"/>
    <p:sldId xmlns:r="http://schemas.openxmlformats.org/officeDocument/2006/relationships" id="264" r:id="R3b3f24ff74f04990"/>
    <p:sldId xmlns:r="http://schemas.openxmlformats.org/officeDocument/2006/relationships" id="265" r:id="Rb564c358e3a841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8ebf2f4f33480c" /><Relationship Type="http://schemas.openxmlformats.org/officeDocument/2006/relationships/slideMaster" Target="/ppt/slideMasters/slideMaster1.xml" Id="R61a1d37f13de4d2d" /><Relationship Type="http://schemas.openxmlformats.org/officeDocument/2006/relationships/notesMaster" Target="/ppt/notesMasters/notesMaster1.xml" Id="R626773b6bfeb48d1" /><Relationship Type="http://schemas.openxmlformats.org/officeDocument/2006/relationships/presProps" Target="/ppt/presProps.xml" Id="R054b1310761a49d8" /><Relationship Type="http://schemas.openxmlformats.org/officeDocument/2006/relationships/tableStyles" Target="/ppt/tableStyles.xml" Id="R51ab859cb8e34030" /><Relationship Type="http://schemas.openxmlformats.org/officeDocument/2006/relationships/slide" Target="/ppt/slides/slide1.xml" Id="Rab33d2b1ebd44bab" /><Relationship Type="http://schemas.openxmlformats.org/officeDocument/2006/relationships/slide" Target="/ppt/slides/slide2.xml" Id="R09ceaa9da0644d7d" /><Relationship Type="http://schemas.openxmlformats.org/officeDocument/2006/relationships/slide" Target="/ppt/slides/slide3.xml" Id="Rce6d80ccb4e74cf8" /><Relationship Type="http://schemas.openxmlformats.org/officeDocument/2006/relationships/slide" Target="/ppt/slides/slide4.xml" Id="R50ade5046bec4d53" /><Relationship Type="http://schemas.openxmlformats.org/officeDocument/2006/relationships/slide" Target="/ppt/slides/slide5.xml" Id="Rf27e6d77ba1d488a" /><Relationship Type="http://schemas.openxmlformats.org/officeDocument/2006/relationships/slide" Target="/ppt/slides/slide6.xml" Id="R17030d946f2e41c3" /><Relationship Type="http://schemas.openxmlformats.org/officeDocument/2006/relationships/slide" Target="/ppt/slides/slide7.xml" Id="R3d5408b56d404931" /><Relationship Type="http://schemas.openxmlformats.org/officeDocument/2006/relationships/slide" Target="/ppt/slides/slide8.xml" Id="R01d97b63a45d4430" /><Relationship Type="http://schemas.openxmlformats.org/officeDocument/2006/relationships/slide" Target="/ppt/slides/slide9.xml" Id="R3b3f24ff74f04990" /><Relationship Type="http://schemas.openxmlformats.org/officeDocument/2006/relationships/slide" Target="/ppt/slides/slide10.xml" Id="Rb564c358e3a841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8a557b1323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55104ea19a4279" /><Relationship Type="http://schemas.openxmlformats.org/officeDocument/2006/relationships/notesMaster" Target="/ppt/notesMasters/notesMaster1.xml" Id="R2f27dde33e2f4d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e330469b6142f1" /><Relationship Type="http://schemas.openxmlformats.org/officeDocument/2006/relationships/notesMaster" Target="/ppt/notesMasters/notesMaster1.xml" Id="Rb7e9a02cd83245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def283013f48e5" /><Relationship Type="http://schemas.openxmlformats.org/officeDocument/2006/relationships/notesMaster" Target="/ppt/notesMasters/notesMaster1.xml" Id="R5ffa79c71a164a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2a60301aa94cca" /><Relationship Type="http://schemas.openxmlformats.org/officeDocument/2006/relationships/notesMaster" Target="/ppt/notesMasters/notesMaster1.xml" Id="R6bb95d42bb264e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a14365af1f4714" /><Relationship Type="http://schemas.openxmlformats.org/officeDocument/2006/relationships/notesMaster" Target="/ppt/notesMasters/notesMaster1.xml" Id="R9d156169190e4e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f9ed13a6344cb1" /><Relationship Type="http://schemas.openxmlformats.org/officeDocument/2006/relationships/notesMaster" Target="/ppt/notesMasters/notesMaster1.xml" Id="R49352ad617f949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4e6ea7f6984a87" /><Relationship Type="http://schemas.openxmlformats.org/officeDocument/2006/relationships/notesMaster" Target="/ppt/notesMasters/notesMaster1.xml" Id="R21e027734ca146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8d0ac99bb34698" /><Relationship Type="http://schemas.openxmlformats.org/officeDocument/2006/relationships/notesMaster" Target="/ppt/notesMasters/notesMaster1.xml" Id="Rb59afcd4c1f944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896f811674437d" /><Relationship Type="http://schemas.openxmlformats.org/officeDocument/2006/relationships/notesMaster" Target="/ppt/notesMasters/notesMaster1.xml" Id="R4239e33f56094e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c6e0c0367547f9" /><Relationship Type="http://schemas.openxmlformats.org/officeDocument/2006/relationships/notesMaster" Target="/ppt/notesMasters/notesMaster1.xml" Id="R4774c80a3ff44d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presents the intended completed version of Artifact Alley. It does not claim that every planned feature is already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 presentation convention used: state the problem first, then explain the solution in plain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choices are based on the repository pom.xml and deployment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Research-informed flow used for this presentation: problem, solution, objectives, architecture, technology, expected result, and future scope. Sources consulted: University of Washington CSE 403 demo guidance and final-year software project presentation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62031e5f744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3d27f133a744cf" /><Relationship Type="http://schemas.openxmlformats.org/officeDocument/2006/relationships/slideLayout" Target="/ppt/slideLayouts/slideLayout1.xml" Id="Rc3e5bfbbf3e347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e5bfbbf3e347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be012adb74a74" /><Relationship Type="http://schemas.openxmlformats.org/officeDocument/2006/relationships/image" Target="/ppt/media/image.png" Id="Rfabb9d19d98944c3" /><Relationship Type="http://schemas.openxmlformats.org/officeDocument/2006/relationships/notesSlide" Target="/ppt/notesSlides/notesSlide1.xml" Id="Rd153123d703f46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8a99cd0da4243" /><Relationship Type="http://schemas.openxmlformats.org/officeDocument/2006/relationships/notesSlide" Target="/ppt/notesSlides/notesSlide2.xml" Id="R3b966c9af5a145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d014e13e54f8f" /><Relationship Type="http://schemas.openxmlformats.org/officeDocument/2006/relationships/notesSlide" Target="/ppt/notesSlides/notesSlide3.xml" Id="Rb908e19dcc2947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1e727ef344107" /><Relationship Type="http://schemas.openxmlformats.org/officeDocument/2006/relationships/notesSlide" Target="/ppt/notesSlides/notesSlide4.xml" Id="R8ec3fee3e3524e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1bad506d248be" /><Relationship Type="http://schemas.openxmlformats.org/officeDocument/2006/relationships/notesSlide" Target="/ppt/notesSlides/notesSlide5.xml" Id="R345526bfede94c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dd981cab144bb" /><Relationship Type="http://schemas.openxmlformats.org/officeDocument/2006/relationships/notesSlide" Target="/ppt/notesSlides/notesSlide6.xml" Id="R946b80127fd74c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5d71232c14cae" /><Relationship Type="http://schemas.openxmlformats.org/officeDocument/2006/relationships/notesSlide" Target="/ppt/notesSlides/notesSlide7.xml" Id="R4267c723975b48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dbcc1886a46d4" /><Relationship Type="http://schemas.openxmlformats.org/officeDocument/2006/relationships/image" Target="/ppt/media/image2.png" Id="R155763c926194fc6" /><Relationship Type="http://schemas.openxmlformats.org/officeDocument/2006/relationships/image" Target="/ppt/media/image3.png" Id="R1ef576123dc34ca2" /><Relationship Type="http://schemas.openxmlformats.org/officeDocument/2006/relationships/notesSlide" Target="/ppt/notesSlides/notesSlide8.xml" Id="Rf0f7b75ad5714c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99f4371ea41da" /><Relationship Type="http://schemas.openxmlformats.org/officeDocument/2006/relationships/notesSlide" Target="/ppt/notesSlides/notesSlide9.xml" Id="Rb80dd9fe1fed48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a7ece29d4406f" /><Relationship Type="http://schemas.openxmlformats.org/officeDocument/2006/relationships/notesSlide" Target="/ppt/notesSlides/notesSlide10.xml" Id="R0e27fac22b7145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29BD3-4FD8-4929-9DAC-2B4D968D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BF5C3-02DE-4303-B53C-FC0E3C51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0133F-F023-46F8-BF95-CC9019F8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914400"/>
            <a:ext cx="34290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b9d19d98944c3"/>
          <a:stretch xmlns:a="http://schemas.openxmlformats.org/drawingml/2006/main"/>
        </p:blipFill>
        <p:spPr>
          <a:xfrm xmlns:a="http://schemas.openxmlformats.org/drawingml/2006/main">
            <a:off x="7905750" y="116205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1456F-D0F1-442A-A638-45C5E0F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39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Artifact Alley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AE5E9-842B-4D69-A848-EAE1707D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48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BE3E4"/>
                </a:solidFill>
                <a:latin typeface="C059"/>
                <a:ea typeface="C059"/>
                <a:cs typeface="C059"/>
              </a:defRPr>
            </a:pPr>
            <a:r>
              <a:rPr sz="1950" b="0">
                <a:solidFill>
                  <a:srgbClr val="CBE3E4"/>
                </a:solidFill>
                <a:latin typeface="C059"/>
                <a:ea typeface="C059"/>
                <a:cs typeface="C059"/>
              </a:rPr>
              <a:t>Online Auction Platform for Artifacts and Antiques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8DC4A-763C-483E-9379-33D47B10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9A31"/>
                </a:solidFill>
                <a:latin typeface="C059"/>
                <a:ea typeface="C059"/>
                <a:cs typeface="C059"/>
              </a:defRPr>
            </a:pPr>
            <a:r>
              <a:rPr sz="1425" b="1">
                <a:solidFill>
                  <a:srgbClr val="D99A31"/>
                </a:solidFill>
                <a:latin typeface="C059"/>
                <a:ea typeface="C059"/>
                <a:cs typeface="C059"/>
              </a:rPr>
              <a:t>College 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82B20-A8F1-4C32-B7E8-C0BE8EFE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FFFFFF"/>
                </a:solidFill>
                <a:latin typeface="C059"/>
                <a:ea typeface="C059"/>
                <a:cs typeface="C059"/>
              </a:rPr>
              <a:t>Proposed completed-system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0DA23-3633-4D61-9C8D-6CEF779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8EE"/>
                </a:solidFill>
                <a:latin typeface="C059"/>
                <a:ea typeface="C059"/>
                <a:cs typeface="C059"/>
              </a:defRPr>
            </a:pPr>
            <a:r>
              <a:rPr sz="1500" b="0">
                <a:solidFill>
                  <a:srgbClr val="DDE8EE"/>
                </a:solidFill>
                <a:latin typeface="C059"/>
                <a:ea typeface="C059"/>
                <a:cs typeface="C059"/>
              </a:rPr>
              <a:t>A role-based platform for trusted artifact discovery, approval, and bidding</a:t>
            </a:r>
          </a:p>
        </p:txBody>
      </p:sp>
    </p:spTree>
    <p:extLst>
      <p:ext uri="{BB962C8B-B14F-4D97-AF65-F5344CB8AC3E}">
        <p14:creationId xmlns:p14="http://schemas.microsoft.com/office/powerpoint/2010/main" val="1108225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7B282-A841-4940-A644-4DBAA51A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53DE6-CFE2-4388-875A-558E083C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4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Why Artifact Alley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A7737-48CC-4331-9D1A-E6D69BB4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project addresses the difficulty of organizing trusted online auctions for artifacts and antiques.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D8065-207C-4B69-BB48-A2199CF0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E079F-80FB-4F44-91E3-BC9E313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43450" cy="37338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9970D-8AD1-4460-B914-685D6AFD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Current difficulty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3ADFF-C3AD-45D1-8062-9AE73A77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3762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57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Collectors need a clear way to discover items, follow active auctions, and place bids. Sellers need a controlled path to publish listings. An administrator needs oversight before an item appears publicly.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A93C4-C700-44A9-87FD-587C8E30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381625" cy="37338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62C18-49F1-4F21-9B63-44A05DE0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Project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D01F3-7BAC-4091-8A77-70D6BDC2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C7E43-FB04-4A8C-A36E-66580B73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2087A-784F-4518-BE6D-186148C2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52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Discover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C9C18-C5DB-4A80-8FFC-39186B43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163" b="0">
                <a:solidFill>
                  <a:srgbClr val="54616D"/>
                </a:solidFill>
                <a:latin typeface="C059"/>
                <a:ea typeface="C059"/>
                <a:cs typeface="C059"/>
              </a:rPr>
              <a:t>Browse a curated catalogue of live auction items.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8C4EC-936A-4B7D-AD80-A21A0A1F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01A63-F029-47B6-8F90-0F8EBE7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BD87F-7C14-46B7-9177-19B3D562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43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Participate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5E68E-045B-4D87-8D09-2ED95331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576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163" b="0">
                <a:solidFill>
                  <a:srgbClr val="54616D"/>
                </a:solidFill>
                <a:latin typeface="C059"/>
                <a:ea typeface="C059"/>
                <a:cs typeface="C059"/>
              </a:rPr>
              <a:t>Sign in and place a valid bid on an active item.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00739-01C9-4700-9578-D65751BC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05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5E7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8FDB1-126D-488B-9A2C-DF2B0632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C0A23-6571-498D-8254-9A1C7D3F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33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Supervise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61019-42D5-402B-8252-4BAC3054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482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163" b="0">
                <a:solidFill>
                  <a:srgbClr val="54616D"/>
                </a:solidFill>
                <a:latin typeface="C059"/>
                <a:ea typeface="C059"/>
                <a:cs typeface="C059"/>
              </a:rPr>
              <a:t>Review seller submissions before public release.</a:t>
            </a:r>
          </a:p>
        </p:txBody>
      </p:sp>
    </p:spTree>
    <p:extLst>
      <p:ext uri="{BB962C8B-B14F-4D97-AF65-F5344CB8AC3E}">
        <p14:creationId xmlns:p14="http://schemas.microsoft.com/office/powerpoint/2010/main" val="1664799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97012-D145-4847-9795-F0878A56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61378-4476-442E-92AE-26451BC8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4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5C14F-3CC1-4E75-B377-E215308E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completed system will support the main auction journey while keeping actions tied to user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B9C4D-876B-4B64-99A4-24436491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A7A91-477E-464E-935D-364F3DDA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C4309-9ADE-49DF-B97F-8175DEAD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6C3C3-60A7-4771-8C4B-523556DC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Trusted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91C52-3F54-4EA3-873D-4357B42E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Create accounts and sign in with server-side validation and secure password storage.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98B68-BED1-4EC7-B237-9CE870C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9A4A0-81B4-4821-A1F2-C375BF5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CAA5B-1354-4171-AEF4-D6010E3B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52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Controlled listing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885EF-CE2D-4932-9894-97C13739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Let sellers submit artifact listings for review before publication.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C0435-5940-4FC9-AE30-66034615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7D9A3-9F93-4A5D-A0CF-D0936655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C3D9B-CCE6-4AC4-8639-80CE442E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Fair bidding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D31E4-5C89-4F52-AA0D-EFD208A7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338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Accept bids only when the auction is live and the amount meets the required minimum.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2B0BF-64EB-4283-A701-5A2B0653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9975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93809-EF53-4994-877E-E1BD1258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666FF-CD93-47B4-97BD-CEB0F1FF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Administrative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930DA-8C52-493C-A6F6-A884C0A2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338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Allow an administrator to approve suitable submissions and manage the marketplace.</a:t>
            </a:r>
          </a:p>
        </p:txBody>
      </p:sp>
    </p:spTree>
    <p:extLst>
      <p:ext uri="{BB962C8B-B14F-4D97-AF65-F5344CB8AC3E}">
        <p14:creationId xmlns:p14="http://schemas.microsoft.com/office/powerpoint/2010/main" val="678210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570E3-0702-4670-9967-DE95C91A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C81A9-723D-4017-974B-3998790B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4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Users and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A0740-BE0D-4C4B-BEA4-951526AE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Role-based access keeps each part of the marketplace focused and accountable.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AD659-4B42-4C26-AB8E-D43C1A26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CFE4F-28B7-433B-891E-34D1B62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143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416AC-69FA-4B22-A792-EC6A04FD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E9EC6-EE76-4C86-B5EF-A4BC8A38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Bidder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73FE6-7E68-4973-9AC8-0B450A00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Browse live auctions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View auction details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Place valid bids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46B56-8BA7-464B-B549-ABBBE0AF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143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473AC-DE3F-4237-AFD3-0DD0D267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8CB38-635A-48B2-A6D9-C187E46F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Seller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8CFD6-E496-4FBB-B8D8-819D3483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765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Register as a seller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Submit an artifact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Track approval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00BE9-9BDA-483B-BBA9-4B86CA2C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143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6CD65-F68D-4DB2-99CD-4D8F588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6B674-36D8-4234-98F7-EE9EB4F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Administrator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65625-5A25-43F5-BA4F-29B0995D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Review pending listings</a:t>
            </a:r>
          </a:p>
          <a:p xmlns:a="http://schemas.openxmlformats.org/drawingml/2006/main">
            <a:pPr algn="l">
              <a:defRPr sz="142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Approve listings</a:t>
            </a:r>
          </a:p>
          <a:p xmlns:a="http://schemas.openxmlformats.org/drawingml/2006/main">
            <a:pPr algn="l">
              <a:defRPr sz="142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Maintain marketplace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C57EC-57FA-4A43-AAB9-C46DD466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B5E7A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B5E7A"/>
                </a:solidFill>
                <a:latin typeface="C059"/>
                <a:ea typeface="C059"/>
                <a:cs typeface="C059"/>
              </a:rPr>
              <a:t>A visitor may browse the catalogue. Account-only actions require the relevant role.</a:t>
            </a:r>
          </a:p>
        </p:txBody>
      </p:sp>
    </p:spTree>
    <p:extLst>
      <p:ext uri="{BB962C8B-B14F-4D97-AF65-F5344CB8AC3E}">
        <p14:creationId xmlns:p14="http://schemas.microsoft.com/office/powerpoint/2010/main" val="791978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EE081-70F3-45BA-8F8F-C6BD7C4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31194-465B-4A59-9727-5119C8C3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4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How the completed system will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2A3C3-09D1-4925-9542-C462A1AB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public auction flow begins with a seller submission and ends with a bidder action on a live listing.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D5F15-E453-44B3-B674-09B8F343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A7F2B-C9B3-4070-802C-33A426AC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AE6DA-04D2-463A-96B1-13DCCE15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0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Seller submits</a:t>
            </a:r>
          </a:p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artifact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F33A0-BD95-4D55-9161-20045515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C5FBE-3499-4A0C-85E7-664823D9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1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Admin reviews</a:t>
            </a:r>
          </a:p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submission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DD492-BEA6-482C-B8CF-05A40F95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CD60C-625B-4A35-9A35-A54903D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5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Approved listing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becomes 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7304E-675F-472D-9C1C-2C5429AD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4BFED-FDE0-4AFE-AC14-2F5072B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Bidder views</a:t>
            </a:r>
          </a:p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and bids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14625" y="3357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91125" y="3357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67625" y="3357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1E5BB-BBBB-47A6-8906-6E15ED82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5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Approval protects the public catalogue. Bid rules protect the auction process.</a:t>
            </a:r>
          </a:p>
        </p:txBody>
      </p:sp>
    </p:spTree>
    <p:extLst>
      <p:ext uri="{BB962C8B-B14F-4D97-AF65-F5344CB8AC3E}">
        <p14:creationId xmlns:p14="http://schemas.microsoft.com/office/powerpoint/2010/main" val="1005370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0988D-6DE8-4CFE-A4C5-18C7827F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CA26B-F8BE-4C4D-986D-1EDB60DF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4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Proposed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DB5E9-FD64-4D3B-8126-0CFB6628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 layered Spring application separates the browser experience, business rules, and stored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311E5-EA37-4E74-BDEC-5356F81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64253-B83E-40C3-8893-26DCDB72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D96CD-964E-4F8B-B4EA-CAF61745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2381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CB1D1-D928-4CFF-B24B-374DCFF1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A400F-68AB-4DE7-8651-9505B398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19375"/>
            <a:ext cx="12858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0D711-DC5E-4EAB-B685-8B251DB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A8818-BB0E-4B87-AEA4-F81D55FF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480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JSP pages</a:t>
            </a:r>
          </a:p>
          <a:p xmlns:a="http://schemas.openxmlformats.org/drawingml/2006/main">
            <a:pPr algn="ctr">
              <a:defRPr sz="135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822D8-04DB-478D-8BF9-37D5C4B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B881D-F4C8-45B1-A874-F3305B28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5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17212B"/>
                </a:solidFill>
                <a:latin typeface="C059"/>
                <a:ea typeface="C059"/>
                <a:cs typeface="C059"/>
              </a:rPr>
              <a:t>Spring MVC controllers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17212B"/>
                </a:solidFill>
                <a:latin typeface="C059"/>
                <a:ea typeface="C059"/>
                <a:cs typeface="C059"/>
              </a:rPr>
              <a:t>Services and validation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17212B"/>
                </a:solidFill>
                <a:latin typeface="C059"/>
                <a:ea typeface="C059"/>
                <a:cs typeface="C059"/>
              </a:rPr>
              <a:t>Spring Data JPA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4FDAF-703D-4BD6-A7AA-F0DE318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12507-383A-4808-B4B9-75AC7655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4802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7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H2 for local work</a:t>
            </a:r>
          </a:p>
          <a:p xmlns:a="http://schemas.openxmlformats.org/drawingml/2006/main">
            <a:pPr algn="ctr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PostgreSQL for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9D0D2-52C8-40F8-9437-D8A067CD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86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6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Deploy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B57F4-319A-4BE9-9471-497509A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Render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33700" y="319087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38875" y="319087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15450" y="319087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982406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067EC-AE85-4F52-ABE9-9697611A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0C805-EF43-47D9-A711-16E5B674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4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83134-4310-4805-A1DE-D4B611F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stack matches the Java syllabus and supports a server-rendered web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ED46C-53FC-4DD1-AA55-9D47BE0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5EDB3-187D-4C3B-B326-058CD827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44B3D-B13A-4881-A342-D3E6223D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383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99FA7-74A3-47A8-9FEF-D0B07A34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192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Java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4A8B7-443D-4D4E-9756-C7466760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AE20D-6D38-42CC-9AB4-E17CDED0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838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Framework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C6B77-E0FD-4AC6-A7A3-21B75CB9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194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Boot 3.5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BFB2B-4263-45AF-9589-4EF54D0A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9FFE0-5A63-46D1-9E17-6C9BF43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385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Web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1675F-636B-42A5-8890-6D49BBA2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MVC and JSP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D7377-9CE2-4BBF-877C-7E4FE36D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F3B6E-3AF5-4EE3-BA01-3C627972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387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Data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0C5F9-A3B4-4A96-B580-D23EE0DE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196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Data JPA and JDBC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5D312-1B74-4997-9596-009A774F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F0AE4-75F4-4E88-B27B-DE2ACED4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383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B0768-FFD0-4193-A13F-73DA9BC9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192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H2 locally; PostgreSQL in production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4277A-4C92-4CD9-AAEE-CC758312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FE7FA-B565-4004-9154-5625D983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6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Build and packaging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CC8C9-F13F-43A9-9BE2-2EB996DD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Maven and executable WAR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C9F4B-42C6-4475-997E-4160C569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9E602-FE17-472C-97F8-39B094B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C899E-BB4F-4EB3-8EEA-8A0A6245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Docker on Render</a:t>
            </a:r>
          </a:p>
        </p:txBody>
      </p:sp>
    </p:spTree>
    <p:extLst>
      <p:ext uri="{BB962C8B-B14F-4D97-AF65-F5344CB8AC3E}">
        <p14:creationId xmlns:p14="http://schemas.microsoft.com/office/powerpoint/2010/main" val="1901857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7C9BB-9ECB-4BF5-B4C7-5C6F860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06A8B-268C-4BBC-9F1B-581058D5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4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Expected completed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97618-2E59-441E-BF78-06C911E3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target system creates a simple, auditable journey for each marketplace participant.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85331-8061-4831-9F2C-A8F18D2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763c926194fc6"/>
          <a:stretch xmlns:a="http://schemas.openxmlformats.org/drawingml/2006/main"/>
        </p:blipFill>
        <p:spPr>
          <a:xfrm xmlns:a="http://schemas.openxmlformats.org/drawingml/2006/main">
            <a:off x="809625" y="1762125"/>
            <a:ext cx="2619375" cy="261937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576123dc34ca2"/>
          <a:stretch xmlns:a="http://schemas.openxmlformats.org/drawingml/2006/main"/>
        </p:blipFill>
        <p:spPr>
          <a:xfrm xmlns:a="http://schemas.openxmlformats.org/drawingml/2006/main">
            <a:off x="8429625" y="1762125"/>
            <a:ext cx="2619375" cy="2619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406FF-C65D-4EDE-85D1-94D990DE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Seller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5B948-E93B-4A01-83D3-CD2E5B71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Create account, submit artifact, await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EEF70-FCE3-407C-8EF2-A2FD1156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81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Bidder journey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7391E-A642-4137-A881-CACC77FB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Browse live items, inspect details, place a valid bid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E5885-CDE2-4090-9325-D9C54176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57450"/>
            <a:ext cx="4648200" cy="1571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4E7B0-045F-4964-846C-812F5B55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003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FFFFFF"/>
                </a:solidFill>
                <a:latin typeface="C059"/>
                <a:ea typeface="C059"/>
                <a:cs typeface="C059"/>
              </a:rPr>
              <a:t>Marketplace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FEB36-BDCF-4DA9-B5D3-34F35E69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58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DCEBF0"/>
                </a:solidFill>
                <a:latin typeface="C059"/>
                <a:ea typeface="C059"/>
                <a:cs typeface="C059"/>
              </a:rPr>
              <a:t>Only approved items appear in the live catalogue.</a:t>
            </a:r>
          </a:p>
          <a:p xmlns:a="http://schemas.openxmlformats.org/drawingml/2006/main">
            <a:pPr algn="ctr">
              <a:defRPr sz="1350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DCEBF0"/>
                </a:solidFill>
                <a:latin typeface="C059"/>
                <a:ea typeface="C059"/>
                <a:cs typeface="C059"/>
              </a:rPr>
              <a:t>Bidding rules reject invalid actions.</a:t>
            </a:r>
          </a:p>
        </p:txBody>
      </p:sp>
    </p:spTree>
    <p:extLst>
      <p:ext uri="{BB962C8B-B14F-4D97-AF65-F5344CB8AC3E}">
        <p14:creationId xmlns:p14="http://schemas.microsoft.com/office/powerpoint/2010/main" val="20546821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00A49-3A49-425C-81AF-B78F0F0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D079C-F1DF-43EF-AD54-68B8637F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4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Expected outcome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3F1E0-C455-4650-BE8A-791DA2B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project’s intended result is a structured auction workflow that can grow beyond the first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88108-27E7-4D3F-BFD7-9241D047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6DBC5-8B25-4BCB-A19E-F34789DE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7625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AFD6A-5B21-44AD-9190-794D33C5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47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Expected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D8A76-70F2-4903-AF3F-34B5D2B1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3762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A single web platform where: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bidders participate in live auctions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sellers submit artifacts through review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administrators control marketplace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6CD48-E368-45CC-868D-893228E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3340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4911C-C8F9-4F15-918C-654BBA29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47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Next planned capabilities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23AC1-F36A-4017-99D7-751D79A2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4191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Artifact photos and richer catalogue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Seller dashboard for submitted listings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Auction closing logic, winner notification, and payment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76663-FAB4-4881-B935-0C661A2E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816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B5E7A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1B5E7A"/>
                </a:solidFill>
                <a:latin typeface="C059"/>
                <a:ea typeface="C059"/>
                <a:cs typeface="C059"/>
              </a:rPr>
              <a:t>Future scope items are proposed, not presented as completed features.</a:t>
            </a:r>
          </a:p>
        </p:txBody>
      </p:sp>
    </p:spTree>
    <p:extLst>
      <p:ext uri="{BB962C8B-B14F-4D97-AF65-F5344CB8AC3E}">
        <p14:creationId xmlns:p14="http://schemas.microsoft.com/office/powerpoint/2010/main" val="924355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32BE9-2337-40D5-8519-9B07F47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120DD-3D2C-4312-96D1-321E465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1ADD3-4612-4EF7-A81A-A458986D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36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Artifact Alley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A62DB-6B90-46E2-839D-59B0E84B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E3E4"/>
                </a:solidFill>
                <a:latin typeface="C059"/>
                <a:ea typeface="C059"/>
                <a:cs typeface="C059"/>
              </a:defRPr>
            </a:pPr>
            <a:r>
              <a:rPr sz="1800" b="0">
                <a:solidFill>
                  <a:srgbClr val="CBE3E4"/>
                </a:solidFill>
                <a:latin typeface="C059"/>
                <a:ea typeface="C059"/>
                <a:cs typeface="C059"/>
              </a:rPr>
              <a:t>A proposed online auction platform for artifacts and antiques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938CB-7583-4629-9E6A-110103FF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C0D02-0A57-421A-AB7A-7B09C4F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6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725" b="0">
                <a:solidFill>
                  <a:srgbClr val="FFFFFF"/>
                </a:solidFill>
                <a:latin typeface="C059"/>
                <a:ea typeface="C059"/>
                <a:cs typeface="C059"/>
              </a:rPr>
              <a:t>The finished project will combine secure role-based access, controlled artifact approval, and valid bidding rules in one Spring-powered web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80CBE-D09C-49AA-BA4B-0BED515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31"/>
                </a:solidFill>
                <a:latin typeface="C059"/>
                <a:ea typeface="C059"/>
                <a:cs typeface="C059"/>
              </a:defRPr>
            </a:pPr>
            <a:r>
              <a:rPr sz="2175" b="1">
                <a:solidFill>
                  <a:srgbClr val="D99A31"/>
                </a:solidFill>
                <a:latin typeface="C059"/>
                <a:ea typeface="C059"/>
                <a:cs typeface="C05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7127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2026-09-23T02:51:51.2610000Z</dcterms:created>
  <dcterms:modified xsi:type="dcterms:W3CDTF">2026-09-23T02:51:51.2610000Z</dcterms:modified>
</coreProperties>
</file>
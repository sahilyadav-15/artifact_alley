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edacaa0fd34cdc" /><Relationship Type="http://schemas.openxmlformats.org/officeDocument/2006/relationships/extended-properties" Target="/docProps/app.xml" Id="R5132fc557d244585" /><Relationship Type="http://schemas.openxmlformats.org/officeDocument/2006/relationships/officeDocument" Target="/ppt/presentation.xml" Id="Rc300d87f428e44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48db26290b4cef"/>
  </p:sldMasterIdLst>
  <p:notesMasterIdLst>
    <p:notesMasterId xmlns:r="http://schemas.openxmlformats.org/officeDocument/2006/relationships" r:id="R86133d9c69994ff4"/>
  </p:notesMasterIdLst>
  <p:sldIdLst>
    <p:sldId xmlns:r="http://schemas.openxmlformats.org/officeDocument/2006/relationships" id="256" r:id="Re52a2b68d1434901"/>
    <p:sldId xmlns:r="http://schemas.openxmlformats.org/officeDocument/2006/relationships" id="257" r:id="R2f11900e61fa4732"/>
    <p:sldId xmlns:r="http://schemas.openxmlformats.org/officeDocument/2006/relationships" id="258" r:id="R5fde5f24e3c244da"/>
    <p:sldId xmlns:r="http://schemas.openxmlformats.org/officeDocument/2006/relationships" id="259" r:id="Ra45e845fa9aa42e7"/>
    <p:sldId xmlns:r="http://schemas.openxmlformats.org/officeDocument/2006/relationships" id="260" r:id="Ra59b74bf7dcf469f"/>
    <p:sldId xmlns:r="http://schemas.openxmlformats.org/officeDocument/2006/relationships" id="261" r:id="R1b010b1803d64808"/>
    <p:sldId xmlns:r="http://schemas.openxmlformats.org/officeDocument/2006/relationships" id="262" r:id="R97af25615e614dcb"/>
    <p:sldId xmlns:r="http://schemas.openxmlformats.org/officeDocument/2006/relationships" id="263" r:id="R6e91e8dfb33d4a92"/>
    <p:sldId xmlns:r="http://schemas.openxmlformats.org/officeDocument/2006/relationships" id="264" r:id="R634813f066914c35"/>
    <p:sldId xmlns:r="http://schemas.openxmlformats.org/officeDocument/2006/relationships" id="265" r:id="Rede0265dc1bb47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dba1b472d4430e" /><Relationship Type="http://schemas.openxmlformats.org/officeDocument/2006/relationships/slideMaster" Target="/ppt/slideMasters/slideMaster1.xml" Id="R7a48db26290b4cef" /><Relationship Type="http://schemas.openxmlformats.org/officeDocument/2006/relationships/notesMaster" Target="/ppt/notesMasters/notesMaster1.xml" Id="R86133d9c69994ff4" /><Relationship Type="http://schemas.openxmlformats.org/officeDocument/2006/relationships/presProps" Target="/ppt/presProps.xml" Id="R63b55ac91c184d13" /><Relationship Type="http://schemas.openxmlformats.org/officeDocument/2006/relationships/tableStyles" Target="/ppt/tableStyles.xml" Id="R8b701f69e7c74ac2" /><Relationship Type="http://schemas.openxmlformats.org/officeDocument/2006/relationships/slide" Target="/ppt/slides/slide1.xml" Id="Re52a2b68d1434901" /><Relationship Type="http://schemas.openxmlformats.org/officeDocument/2006/relationships/slide" Target="/ppt/slides/slide2.xml" Id="R2f11900e61fa4732" /><Relationship Type="http://schemas.openxmlformats.org/officeDocument/2006/relationships/slide" Target="/ppt/slides/slide3.xml" Id="R5fde5f24e3c244da" /><Relationship Type="http://schemas.openxmlformats.org/officeDocument/2006/relationships/slide" Target="/ppt/slides/slide4.xml" Id="Ra45e845fa9aa42e7" /><Relationship Type="http://schemas.openxmlformats.org/officeDocument/2006/relationships/slide" Target="/ppt/slides/slide5.xml" Id="Ra59b74bf7dcf469f" /><Relationship Type="http://schemas.openxmlformats.org/officeDocument/2006/relationships/slide" Target="/ppt/slides/slide6.xml" Id="R1b010b1803d64808" /><Relationship Type="http://schemas.openxmlformats.org/officeDocument/2006/relationships/slide" Target="/ppt/slides/slide7.xml" Id="R97af25615e614dcb" /><Relationship Type="http://schemas.openxmlformats.org/officeDocument/2006/relationships/slide" Target="/ppt/slides/slide8.xml" Id="R6e91e8dfb33d4a92" /><Relationship Type="http://schemas.openxmlformats.org/officeDocument/2006/relationships/slide" Target="/ppt/slides/slide9.xml" Id="R634813f066914c35" /><Relationship Type="http://schemas.openxmlformats.org/officeDocument/2006/relationships/slide" Target="/ppt/slides/slide10.xml" Id="Rede0265dc1bb47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7a61921c848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73f6f610fe40ca" /><Relationship Type="http://schemas.openxmlformats.org/officeDocument/2006/relationships/notesMaster" Target="/ppt/notesMasters/notesMaster1.xml" Id="R2dd906c439f241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f207e8ce1247b5" /><Relationship Type="http://schemas.openxmlformats.org/officeDocument/2006/relationships/notesMaster" Target="/ppt/notesMasters/notesMaster1.xml" Id="Rf86a0db955a742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fa60505ab047a0" /><Relationship Type="http://schemas.openxmlformats.org/officeDocument/2006/relationships/notesMaster" Target="/ppt/notesMasters/notesMaster1.xml" Id="Rf0147ca5992e43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d8df20284b44b7" /><Relationship Type="http://schemas.openxmlformats.org/officeDocument/2006/relationships/notesMaster" Target="/ppt/notesMasters/notesMaster1.xml" Id="R58717f69114d46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1ac8d214224398" /><Relationship Type="http://schemas.openxmlformats.org/officeDocument/2006/relationships/notesMaster" Target="/ppt/notesMasters/notesMaster1.xml" Id="Rdf82887133d64c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fd6c333a0d4f37" /><Relationship Type="http://schemas.openxmlformats.org/officeDocument/2006/relationships/notesMaster" Target="/ppt/notesMasters/notesMaster1.xml" Id="R626f0edc88ab4b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4a002279744d0c" /><Relationship Type="http://schemas.openxmlformats.org/officeDocument/2006/relationships/notesMaster" Target="/ppt/notesMasters/notesMaster1.xml" Id="R68d3716cb13147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c95daa1ef54e17" /><Relationship Type="http://schemas.openxmlformats.org/officeDocument/2006/relationships/notesMaster" Target="/ppt/notesMasters/notesMaster1.xml" Id="Rcbc39d8d2b8549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17a49507e9479c" /><Relationship Type="http://schemas.openxmlformats.org/officeDocument/2006/relationships/notesMaster" Target="/ppt/notesMasters/notesMaster1.xml" Id="Rfda3d164c94642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560e97bbd849e2" /><Relationship Type="http://schemas.openxmlformats.org/officeDocument/2006/relationships/notesMaster" Target="/ppt/notesMasters/notesMaster1.xml" Id="Rfd6d2703c7544e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presents the intended completed version of Artifact Alley. It does not claim that every planned feature is already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 presentation convention used: state the problem first, then explain the solution in plain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choices are based on the repository pom.xml and deployment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Research-informed flow used for this presentation: problem, solution, objectives, architecture, technology, expected result, and future scope. Sources consulted: University of Washington CSE 403 demo guidance and final-year software project presentation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a2b44d21e45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5ff2ebde4b4913" /><Relationship Type="http://schemas.openxmlformats.org/officeDocument/2006/relationships/slideLayout" Target="/ppt/slideLayouts/slideLayout1.xml" Id="R2596223bfaf144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96223bfaf144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ac55425db43cd" /><Relationship Type="http://schemas.openxmlformats.org/officeDocument/2006/relationships/image" Target="/ppt/media/image.png" Id="R2bbe579408674971" /><Relationship Type="http://schemas.openxmlformats.org/officeDocument/2006/relationships/notesSlide" Target="/ppt/notesSlides/notesSlide1.xml" Id="Ra5bc1f934dcc4a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2dac0a5c046a4" /><Relationship Type="http://schemas.openxmlformats.org/officeDocument/2006/relationships/notesSlide" Target="/ppt/notesSlides/notesSlide2.xml" Id="Ref1ad4cb44c54a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8819dcd854cf3" /><Relationship Type="http://schemas.openxmlformats.org/officeDocument/2006/relationships/notesSlide" Target="/ppt/notesSlides/notesSlide3.xml" Id="R60b5fbec963346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888e9e0594ecb" /><Relationship Type="http://schemas.openxmlformats.org/officeDocument/2006/relationships/notesSlide" Target="/ppt/notesSlides/notesSlide4.xml" Id="R1174613fa0dc40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ff10d6ed141e8" /><Relationship Type="http://schemas.openxmlformats.org/officeDocument/2006/relationships/notesSlide" Target="/ppt/notesSlides/notesSlide5.xml" Id="Rc176b7c8a0b84e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84a7f7dd94193" /><Relationship Type="http://schemas.openxmlformats.org/officeDocument/2006/relationships/notesSlide" Target="/ppt/notesSlides/notesSlide6.xml" Id="R96d82e11a9f746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7aa0accc04bd8" /><Relationship Type="http://schemas.openxmlformats.org/officeDocument/2006/relationships/notesSlide" Target="/ppt/notesSlides/notesSlide7.xml" Id="Rfe7a015e5e9742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93c9791f74b18" /><Relationship Type="http://schemas.openxmlformats.org/officeDocument/2006/relationships/image" Target="/ppt/media/image2.png" Id="Re9e019a646784b08" /><Relationship Type="http://schemas.openxmlformats.org/officeDocument/2006/relationships/image" Target="/ppt/media/image3.png" Id="R30ef7c3ef7164094" /><Relationship Type="http://schemas.openxmlformats.org/officeDocument/2006/relationships/notesSlide" Target="/ppt/notesSlides/notesSlide8.xml" Id="R729fd428115542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a67be3522457e" /><Relationship Type="http://schemas.openxmlformats.org/officeDocument/2006/relationships/notesSlide" Target="/ppt/notesSlides/notesSlide9.xml" Id="Rf72f5a00e1ea44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09f334e904249" /><Relationship Type="http://schemas.openxmlformats.org/officeDocument/2006/relationships/notesSlide" Target="/ppt/notesSlides/notesSlide10.xml" Id="Ree5fd090743a4c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06FFE-A74E-4FDC-99B7-95ACCCF2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EA086-07D6-4E0F-91B6-8A1E074C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AA199-7595-44FF-AA73-86C07C87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914400"/>
            <a:ext cx="34290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e579408674971"/>
          <a:stretch xmlns:a="http://schemas.openxmlformats.org/drawingml/2006/main"/>
        </p:blipFill>
        <p:spPr>
          <a:xfrm xmlns:a="http://schemas.openxmlformats.org/drawingml/2006/main">
            <a:off x="7905750" y="1162050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AFF16-0916-4229-8556-68244751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39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Artifact Alley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AE3D2-28C8-4DF6-A962-28C795D0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48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BE3E4"/>
                </a:solidFill>
                <a:latin typeface="C059"/>
                <a:ea typeface="C059"/>
                <a:cs typeface="C059"/>
              </a:defRPr>
            </a:pPr>
            <a:r>
              <a:rPr sz="1950" b="0">
                <a:solidFill>
                  <a:srgbClr val="CBE3E4"/>
                </a:solidFill>
                <a:latin typeface="C059"/>
                <a:ea typeface="C059"/>
                <a:cs typeface="C059"/>
              </a:rPr>
              <a:t>Online Auction Platform for Artifacts and Antiques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3678C-A59C-4B60-9FB9-737D5F2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9A31"/>
                </a:solidFill>
                <a:latin typeface="C059"/>
                <a:ea typeface="C059"/>
                <a:cs typeface="C059"/>
              </a:defRPr>
            </a:pPr>
            <a:r>
              <a:rPr sz="1425" b="1">
                <a:solidFill>
                  <a:srgbClr val="D99A31"/>
                </a:solidFill>
                <a:latin typeface="C059"/>
                <a:ea typeface="C059"/>
                <a:cs typeface="C059"/>
              </a:rPr>
              <a:t>College Project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84CB7-248F-41FE-AD12-F3419AB0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FFFFFF"/>
                </a:solidFill>
                <a:latin typeface="C059"/>
                <a:ea typeface="C059"/>
                <a:cs typeface="C059"/>
              </a:rPr>
              <a:t>Proposed completed-system overview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38263-9F4E-4962-A4B1-DFBC9556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5286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8EE"/>
                </a:solidFill>
                <a:latin typeface="C059"/>
                <a:ea typeface="C059"/>
                <a:cs typeface="C059"/>
              </a:defRPr>
            </a:pPr>
            <a:r>
              <a:rPr sz="1500" b="0">
                <a:solidFill>
                  <a:srgbClr val="DDE8EE"/>
                </a:solidFill>
                <a:latin typeface="C059"/>
                <a:ea typeface="C059"/>
                <a:cs typeface="C059"/>
              </a:rPr>
              <a:t>A role-based platform for trusted artifact discovery, approval, and bidding</a:t>
            </a:r>
          </a:p>
        </p:txBody>
      </p:sp>
    </p:spTree>
    <p:extLst>
      <p:ext uri="{BB962C8B-B14F-4D97-AF65-F5344CB8AC3E}">
        <p14:creationId xmlns:p14="http://schemas.microsoft.com/office/powerpoint/2010/main" val="1147188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0DF8E-8019-4E10-873A-2F37518C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DCA43-7073-4E25-873A-044B4668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Why Artifact Alley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628A8-C0EF-439C-B456-13F34F32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project addresses the difficulty of organizing trusted online auctions for artifacts and antiques.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D2162-A65F-494A-BD92-E5796A4B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5291D-1203-4E95-979E-1B430FF2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43450" cy="37338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41300-1E55-4209-8A16-1B0EE14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Current difficulty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F7047-5ECA-4BAC-8E52-5AADA621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3762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57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Collectors need a clear way to discover items, follow active auctions, and place bids. Sellers need a controlled path to publish listings. An administrator needs oversight before an item appears publicly.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9E542-3247-4EF6-AE4C-6E8A1B35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381625" cy="37338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F116A-1D40-448F-90E7-358B5342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Project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EE94A-EFCE-4E73-9CDD-E8F86FC8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241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2B709-0AB3-4571-BBFB-8FE058CF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19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DC3BA-CC51-4CFE-9AAD-B5A1C031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52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Discover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9151A-0D49-4351-9913-C01F345B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70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163" b="0">
                <a:solidFill>
                  <a:srgbClr val="54616D"/>
                </a:solidFill>
                <a:latin typeface="C059"/>
                <a:ea typeface="C059"/>
                <a:cs typeface="C059"/>
              </a:rPr>
              <a:t>Browse a curated catalogue of live auction items.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E541B-A7A0-44EF-9327-BB00CA18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02ACA-B469-44F4-881E-686222C1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10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A7070-74E2-4ACF-B2E4-9D833CFF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43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Participate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DAE12-83B9-4005-A78F-0B0EC9C3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576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163" b="0">
                <a:solidFill>
                  <a:srgbClr val="54616D"/>
                </a:solidFill>
                <a:latin typeface="C059"/>
                <a:ea typeface="C059"/>
                <a:cs typeface="C059"/>
              </a:rPr>
              <a:t>Sign in and place a valid bid on an active item.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51EEC-679E-4C71-B9D7-9DE20C29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05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5E7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BF695-978F-4CA8-ADFF-3C4D1DE5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00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18AF0-2CC5-4AB2-BFCE-14F036C0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33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Supervise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CC528-4DBA-4D11-8817-78CC0398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482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163" b="0">
                <a:solidFill>
                  <a:srgbClr val="54616D"/>
                </a:solidFill>
                <a:latin typeface="C059"/>
                <a:ea typeface="C059"/>
                <a:cs typeface="C059"/>
              </a:rPr>
              <a:t>Review seller submissions before public release.</a:t>
            </a:r>
          </a:p>
        </p:txBody>
      </p:sp>
    </p:spTree>
    <p:extLst>
      <p:ext uri="{BB962C8B-B14F-4D97-AF65-F5344CB8AC3E}">
        <p14:creationId xmlns:p14="http://schemas.microsoft.com/office/powerpoint/2010/main" val="1048640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1224A-9504-42BA-9B48-95514F3F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90FE0-9582-40AE-90A7-E0C332B9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Project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4809C-F86D-4D11-AB6F-80293BB6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completed system will support the main auction journey while keeping actions tied to user roles.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3B031-DC0B-4C80-BD23-4DBD6FD5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0BF5B-2046-433E-BFAD-ED986249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8BEE9-9F30-4D9A-BE17-3A6BAB1C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4FBF5-F4BF-4370-B524-30EA489B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Trusted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184A7-49FE-4F7A-8163-A3F32600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Create accounts and sign in with server-side validation and secure password storage.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CA845-6E4E-4748-8AD5-3C17C7FE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8CFE6-3BF0-4FE7-8229-6CF18574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8D1A8-7AA6-4D02-B2F8-3F4669C5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52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Controlled listing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4EA0F-9C01-419A-85C7-36F6AA9D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Let sellers submit artifact listings for review before publication.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46496-B2EA-4713-8DF4-06782D0A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0680D-52E3-4757-86DE-26F35052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16C37-712B-43E2-9244-B2CDDFA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Fair bidding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5191D-5FF9-4911-B159-F7615DA7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338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Accept bids only when the auction is live and the amount meets the required minimum.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7C07F-AE72-40AF-8AB9-78989E26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9975"/>
            <a:ext cx="5048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CE132-FDEC-4CFD-B041-81E45761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13335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8887E-F3C1-48F2-8796-7295EE91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7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Administrative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2B048-58AA-4D53-A4A0-2DF3B635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338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Allow an administrator to approve suitable submissions and manage the marketplace.</a:t>
            </a:r>
          </a:p>
        </p:txBody>
      </p:sp>
    </p:spTree>
    <p:extLst>
      <p:ext uri="{BB962C8B-B14F-4D97-AF65-F5344CB8AC3E}">
        <p14:creationId xmlns:p14="http://schemas.microsoft.com/office/powerpoint/2010/main" val="688049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3EB6BF-8188-43B2-9A84-B8C5C4CE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E328C-A477-44DF-B451-16662EA0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Users and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A4AC-7EFF-411F-A195-91087C56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Role-based access keeps each part of the marketplace focused and accountable.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F5CD8-B779-43F7-89BF-A7E5FB2C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614C1-5848-4509-BECB-30EEF53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1432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F4929-2362-4B18-8E57-24E92082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C1C6B-D5AE-44AC-8259-FD9BAD6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Bidder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020EC-AAE5-4A30-8DFC-9BF0D5D1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Browse live auctions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View auction details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Place valid bids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EE297-7E1B-4ACD-B714-4965B29C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31432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E0C4F-AAAF-4428-B840-23FDB0E9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BC092-3764-430B-98A1-1D39FE2E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Seller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6CD94-89AD-46FE-ACB8-FABB7565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765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Register as a seller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Submit an artifact</a:t>
            </a:r>
          </a:p>
          <a:p xmlns:a="http://schemas.openxmlformats.org/drawingml/2006/main">
            <a:pPr algn="l">
              <a:defRPr sz="142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Track approval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438FA-43B0-4A8A-A2B7-773A2359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14325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60BF4-23B5-4859-A6BB-8469978E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7C1EB-1A60-431D-8EBD-BE233097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Administrator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4B1EE-763D-48B7-B7DF-9332289F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Review pending listings</a:t>
            </a:r>
          </a:p>
          <a:p xmlns:a="http://schemas.openxmlformats.org/drawingml/2006/main">
            <a:pPr algn="l">
              <a:defRPr sz="142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Approve listings</a:t>
            </a:r>
          </a:p>
          <a:p xmlns:a="http://schemas.openxmlformats.org/drawingml/2006/main">
            <a:pPr algn="l">
              <a:defRPr sz="142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Maintain marketplace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F9452-9162-40A9-A1C8-832988E3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816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B5E7A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B5E7A"/>
                </a:solidFill>
                <a:latin typeface="C059"/>
                <a:ea typeface="C059"/>
                <a:cs typeface="C059"/>
              </a:rPr>
              <a:t>A visitor may browse the catalogue. Account-only actions require the relevant role.</a:t>
            </a:r>
          </a:p>
        </p:txBody>
      </p:sp>
    </p:spTree>
    <p:extLst>
      <p:ext uri="{BB962C8B-B14F-4D97-AF65-F5344CB8AC3E}">
        <p14:creationId xmlns:p14="http://schemas.microsoft.com/office/powerpoint/2010/main" val="18477178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21108-5CE6-4881-92DE-C05FB7FB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F02BC-EEE6-459F-ABD9-44DE671B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How the completed system will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BE809-F002-4350-983C-D97F9C68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public auction flow begins with a seller submission and ends with a bidder action on a live listing.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224A0-0807-41C7-95DF-9FBF092A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D46CA-B041-496F-8CAC-0EC85A81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4893B-14F8-4E77-A5F9-7088B19B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0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Seller submits</a:t>
            </a:r>
          </a:p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artifact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C4E1A-1034-408B-AA17-D144F682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DC5BE-AE34-42FC-AD69-DFF54A0F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1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Admin reviews</a:t>
            </a:r>
          </a:p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submission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C0A13-1216-4283-8DCD-5CE59EAA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2D8C9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9EECA-492D-4903-B64F-78C01DF8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5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Approved listing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becomes live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A21D9-225A-4339-9ADE-6FA69CC7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1952625" cy="1190625"/>
          </a:xfrm>
          <a:prstGeom xmlns:a="http://schemas.openxmlformats.org/drawingml/2006/main" prst="roundRect">
            <a:avLst>
              <a:gd name="adj" fmla="val 14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24F5B-B291-41F9-A866-868CF878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95625"/>
            <a:ext cx="157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Bidder views</a:t>
            </a:r>
          </a:p>
          <a:p xmlns:a="http://schemas.openxmlformats.org/drawingml/2006/main">
            <a:pPr algn="ctr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and bids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14625" y="3357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191125" y="3357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67625" y="3357563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A3C14-83AD-42A4-B78E-C0784240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5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Approval protects the public catalogue. Bid rules protect the auction process.</a:t>
            </a:r>
          </a:p>
        </p:txBody>
      </p:sp>
    </p:spTree>
    <p:extLst>
      <p:ext uri="{BB962C8B-B14F-4D97-AF65-F5344CB8AC3E}">
        <p14:creationId xmlns:p14="http://schemas.microsoft.com/office/powerpoint/2010/main" val="930972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05A10-DCAA-4A98-9E1B-EC1DF124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6A52A-E2CD-426F-9ABA-E98B38B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Proposed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3D070-A5A6-4F34-957D-92454F73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 layered Spring application separates the browser experience, business rules, and stored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F9232-E15B-4884-AC26-904D843C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82218-7E1A-4D32-B8CA-CA16B433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4B61E-45E8-4124-BEF7-230A172B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33625"/>
            <a:ext cx="23812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B3497-B69F-4C54-BDB1-F475799D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19375"/>
            <a:ext cx="2095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E75DA-BA11-4A4A-8A5B-4E2D884F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19375"/>
            <a:ext cx="1285875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1D7A4-5266-47C1-B3D3-7F9B4595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Browser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39EB8-16FC-4EF6-B7D0-856E182F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4802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JSP pages</a:t>
            </a:r>
          </a:p>
          <a:p xmlns:a="http://schemas.openxmlformats.org/drawingml/2006/main">
            <a:pPr algn="ctr">
              <a:defRPr sz="135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F7CB1-4ECB-4DAA-B81E-1E7A11D1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B0B6B-E594-44D9-811A-7C7FFE94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5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17212B"/>
                </a:solidFill>
                <a:latin typeface="C059"/>
                <a:ea typeface="C059"/>
                <a:cs typeface="C059"/>
              </a:rPr>
              <a:t>Spring MVC controllers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17212B"/>
                </a:solidFill>
                <a:latin typeface="C059"/>
                <a:ea typeface="C059"/>
                <a:cs typeface="C059"/>
              </a:rPr>
              <a:t>Services and validation</a:t>
            </a:r>
          </a:p>
          <a:p xmlns:a="http://schemas.openxmlformats.org/drawingml/2006/main">
            <a:pPr algn="ctr">
              <a:defRPr sz="1350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17212B"/>
                </a:solidFill>
                <a:latin typeface="C059"/>
                <a:ea typeface="C059"/>
                <a:cs typeface="C059"/>
              </a:rPr>
              <a:t>Spring Data JPA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A1DDDD-6EAB-45B3-B36E-CB49E9D9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89A02-E8A3-4470-8C78-09C669D8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48025"/>
            <a:ext cx="157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7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H2 for local work</a:t>
            </a:r>
          </a:p>
          <a:p xmlns:a="http://schemas.openxmlformats.org/drawingml/2006/main">
            <a:pPr algn="ctr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PostgreSQL for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8B8E2-24EF-4FDE-84C9-35D44A17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86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65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Deploy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B97FF-CD06-4C4B-9520-25D774B5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DCEBF0"/>
                </a:solidFill>
                <a:latin typeface="C059"/>
                <a:ea typeface="C059"/>
                <a:cs typeface="C059"/>
              </a:rPr>
              <a:t>Render</a:t>
            </a:r>
          </a:p>
        </p:txBody>
      </p: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33700" y="319087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38875" y="3190875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315450" y="319087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9A31"/>
            </a:solidFill>
            <a:prstDash val="solid"/>
            <a:headEnd type="arrow" w="med" len="med"/>
          </a:ln>
        </p:spPr>
      </p:cxnSp>
    </p:spTree>
    <p:extLst>
      <p:ext uri="{BB962C8B-B14F-4D97-AF65-F5344CB8AC3E}">
        <p14:creationId xmlns:p14="http://schemas.microsoft.com/office/powerpoint/2010/main" val="20959839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3875AA-3D01-4D15-9868-FFF365D0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C0090-5B99-4673-9781-0B214C8A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9EEBF-2762-4150-A314-F1B63C54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stack matches the Java syllabus and supports a server-rendered web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2B501-1808-47DD-A52C-2D6356FE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E9BD1-8989-4757-ADFB-6C306429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46EC9-8640-4301-9CD9-C79512A9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8383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D6217-ECA6-4A4D-BA51-07F446A7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192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Java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CDE1D-7FF1-47F3-99DA-58034B32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E75D81-9D6F-4ABA-8156-4316D8F6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838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Framework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24090-3E24-4BE0-AE72-8246E748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194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Boot 3.5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E4FB9-D6B9-492F-8FF9-6CE092EF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21B77-41D3-4987-BF9C-9FEF4025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385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Web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318741-FD98-422E-83E2-DCB714AD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MVC and JSP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4C774-1A8D-47E6-96DE-215FBDC7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86B2C-10EA-4369-A929-9FD1E090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387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Data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04122-AD46-4B50-B820-A54E7542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196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Spring Data JPA and JDBC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7706A-4C20-4DD2-A68B-EF7AC254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A0193-E913-4F29-86AA-409538C5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383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500E2-557C-4205-A1AC-1699623E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192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4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H2 locally; PostgreSQL in production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1E60D-6706-418A-B190-484B4434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B6487-E68F-4858-8A78-88F811FA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469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Build and packaging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4F493-34A7-45A8-BC60-1018E076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Maven and executable WAR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2514DA-376F-4FC4-AAE4-DEACDB73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857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6B1EC-0CED-42A1-886A-546FD097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385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350" b="1">
                <a:solidFill>
                  <a:srgbClr val="54616D"/>
                </a:solidFill>
                <a:latin typeface="C059"/>
                <a:ea typeface="C059"/>
                <a:cs typeface="C059"/>
              </a:rPr>
              <a:t>Deployment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5987D1-CF99-4F92-AA87-AB6A570E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95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5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Docker on Render</a:t>
            </a:r>
          </a:p>
        </p:txBody>
      </p:sp>
    </p:spTree>
    <p:extLst>
      <p:ext uri="{BB962C8B-B14F-4D97-AF65-F5344CB8AC3E}">
        <p14:creationId xmlns:p14="http://schemas.microsoft.com/office/powerpoint/2010/main" val="1743813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804B93-25B5-44D4-B0DB-AFF767C9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9B466-F532-4466-ADBF-0BB8E76D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Expected completed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9624F-D886-43A3-98C7-00715DA5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target system creates a simple, auditable journey for each marketplace participant.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C3CB7-D30F-4D17-8040-47860B73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019a646784b08"/>
          <a:stretch xmlns:a="http://schemas.openxmlformats.org/drawingml/2006/main"/>
        </p:blipFill>
        <p:spPr>
          <a:xfrm xmlns:a="http://schemas.openxmlformats.org/drawingml/2006/main">
            <a:off x="809625" y="1762125"/>
            <a:ext cx="2619375" cy="261937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f7c3ef7164094"/>
          <a:stretch xmlns:a="http://schemas.openxmlformats.org/drawingml/2006/main"/>
        </p:blipFill>
        <p:spPr>
          <a:xfrm xmlns:a="http://schemas.openxmlformats.org/drawingml/2006/main">
            <a:off x="8429625" y="1762125"/>
            <a:ext cx="2619375" cy="2619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23A7C-CFC5-40BD-82A7-87E192CB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Seller 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40828-F871-49A2-9A68-72ADC07E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Create account, submit artifact, await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054EA-7904-4405-8DCC-A5340D52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81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0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Bidder journey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4DD3E-2A4E-4460-9C8D-8FA36D9E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4350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54616D"/>
                </a:solidFill>
                <a:latin typeface="C059"/>
                <a:ea typeface="C059"/>
                <a:cs typeface="C059"/>
              </a:rPr>
              <a:t>Browse live items, inspect details, place a valid bid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7C7CE-9365-4D3F-94D2-B5EE8C82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57450"/>
            <a:ext cx="4648200" cy="1571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00505-DBA2-4AF8-AF67-E1C55CAC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003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13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2025" b="1">
                <a:solidFill>
                  <a:srgbClr val="FFFFFF"/>
                </a:solidFill>
                <a:latin typeface="C059"/>
                <a:ea typeface="C059"/>
                <a:cs typeface="C059"/>
              </a:rPr>
              <a:t>Marketplace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128AD-1115-45FA-A695-82E217A9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58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DCEBF0"/>
                </a:solidFill>
                <a:latin typeface="C059"/>
                <a:ea typeface="C059"/>
                <a:cs typeface="C059"/>
              </a:rPr>
              <a:t>Only approved items appear in the live catalogue.</a:t>
            </a:r>
          </a:p>
          <a:p xmlns:a="http://schemas.openxmlformats.org/drawingml/2006/main">
            <a:pPr algn="ctr">
              <a:defRPr sz="1350" b="0">
                <a:solidFill>
                  <a:srgbClr val="DCEBF0"/>
                </a:solidFill>
                <a:latin typeface="C059"/>
                <a:ea typeface="C059"/>
                <a:cs typeface="C059"/>
              </a:defRPr>
            </a:pPr>
            <a:r>
              <a:rPr sz="1350" b="0">
                <a:solidFill>
                  <a:srgbClr val="DCEBF0"/>
                </a:solidFill>
                <a:latin typeface="C059"/>
                <a:ea typeface="C059"/>
                <a:cs typeface="C059"/>
              </a:rPr>
              <a:t>Bidding rules reject invalid actions.</a:t>
            </a:r>
          </a:p>
        </p:txBody>
      </p:sp>
    </p:spTree>
    <p:extLst>
      <p:ext uri="{BB962C8B-B14F-4D97-AF65-F5344CB8AC3E}">
        <p14:creationId xmlns:p14="http://schemas.microsoft.com/office/powerpoint/2010/main" val="15649445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9776D-C5F4-4789-8A3A-10ABB7B5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1ED49-DEB8-4AC8-9525-FF34E342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2550" b="1">
                <a:solidFill>
                  <a:srgbClr val="10263F"/>
                </a:solidFill>
                <a:latin typeface="C059"/>
                <a:ea typeface="C059"/>
                <a:cs typeface="C059"/>
              </a:rPr>
              <a:t>Expected outcome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AAC89-C8BB-4487-B3EB-1604A65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12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The project’s intended result is a structured auction workflow that can grow beyond the first release.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9C420-5453-421C-BEE7-E09A8F6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436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4616D"/>
                </a:solidFill>
                <a:latin typeface="C059"/>
                <a:ea typeface="C059"/>
                <a:cs typeface="C059"/>
              </a:defRPr>
            </a:pPr>
            <a:r>
              <a:rPr sz="900" b="0">
                <a:solidFill>
                  <a:srgbClr val="54616D"/>
                </a:solidFill>
                <a:latin typeface="C059"/>
                <a:ea typeface="C059"/>
                <a:cs typeface="C059"/>
              </a:rPr>
              <a:t>Artifact Alley  |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09C99-82BC-4321-AE96-5F397E7C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7625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74EA8-C8C6-43C1-94EA-61044D6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478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Expected outcome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5FE3B-C804-4245-8F55-C8B360D3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3762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A single web platform where: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bidders participate in live auctions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sellers submit artifacts through review</a:t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administrators control marketplace 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22A32-FA82-44DC-8EEF-235CD453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334000" cy="3429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3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C9A52-1B38-4D88-87D8-98941A27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47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3F"/>
                </a:solidFill>
                <a:latin typeface="C059"/>
                <a:ea typeface="C059"/>
                <a:cs typeface="C059"/>
              </a:defRPr>
            </a:pPr>
            <a:r>
              <a:rPr sz="1875" b="1">
                <a:solidFill>
                  <a:srgbClr val="10263F"/>
                </a:solidFill>
                <a:latin typeface="C059"/>
                <a:ea typeface="C059"/>
                <a:cs typeface="C059"/>
              </a:rPr>
              <a:t>Next planned capabilities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D2F4B-2127-4FDD-A825-BDF7F5FA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4191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Artifact photos and richer catalogue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Seller dashboard for submitted listings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C059"/>
                <a:ea typeface="C059"/>
                <a:cs typeface="C059"/>
              </a:defRPr>
            </a:pPr>
            <a:r>
              <a:rPr sz="1425" b="0">
                <a:solidFill>
                  <a:srgbClr val="17212B"/>
                </a:solidFill>
                <a:latin typeface="C059"/>
                <a:ea typeface="C059"/>
                <a:cs typeface="C059"/>
              </a:rPr>
              <a:t>• Auction closing logic, winner notification, and payment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94361-3258-44A8-BAC5-C069AE8B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816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B5E7A"/>
                </a:solidFill>
                <a:latin typeface="C059"/>
                <a:ea typeface="C059"/>
                <a:cs typeface="C059"/>
              </a:defRPr>
            </a:pPr>
            <a:r>
              <a:rPr sz="1275" b="0">
                <a:solidFill>
                  <a:srgbClr val="1B5E7A"/>
                </a:solidFill>
                <a:latin typeface="C059"/>
                <a:ea typeface="C059"/>
                <a:cs typeface="C059"/>
              </a:rPr>
              <a:t>Future scope items are proposed, not presented as completed features.</a:t>
            </a:r>
          </a:p>
        </p:txBody>
      </p:sp>
    </p:spTree>
    <p:extLst>
      <p:ext uri="{BB962C8B-B14F-4D97-AF65-F5344CB8AC3E}">
        <p14:creationId xmlns:p14="http://schemas.microsoft.com/office/powerpoint/2010/main" val="20162581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6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952ED-A54B-4C86-8FC0-E5F0D312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E6463-2529-4C4F-AC2C-949B0335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DB9F1-7834-481C-855B-6C912E6B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3600" b="1">
                <a:solidFill>
                  <a:srgbClr val="FFFFFF"/>
                </a:solidFill>
                <a:latin typeface="C059"/>
                <a:ea typeface="C059"/>
                <a:cs typeface="C059"/>
              </a:rPr>
              <a:t>Artifact Alley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F49BB-53F0-49B8-90B4-641BC481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E3E4"/>
                </a:solidFill>
                <a:latin typeface="C059"/>
                <a:ea typeface="C059"/>
                <a:cs typeface="C059"/>
              </a:defRPr>
            </a:pPr>
            <a:r>
              <a:rPr sz="1800" b="0">
                <a:solidFill>
                  <a:srgbClr val="CBE3E4"/>
                </a:solidFill>
                <a:latin typeface="C059"/>
                <a:ea typeface="C059"/>
                <a:cs typeface="C059"/>
              </a:rPr>
              <a:t>A proposed online auction platform for artifacts and antiques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F1F33-D108-4B29-9EB5-0635E68F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4AD6A-4B8B-4F8C-B9B3-3A7D9D4F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63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C059"/>
                <a:ea typeface="C059"/>
                <a:cs typeface="C059"/>
              </a:defRPr>
            </a:pPr>
            <a:r>
              <a:rPr sz="1725" b="0">
                <a:solidFill>
                  <a:srgbClr val="FFFFFF"/>
                </a:solidFill>
                <a:latin typeface="C059"/>
                <a:ea typeface="C059"/>
                <a:cs typeface="C059"/>
              </a:rPr>
              <a:t>The finished project will combine secure role-based access, controlled artifact approval, and valid bidding rules in one Spring-powered web application.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FA208-9A31-4D91-91EF-84ED0296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9A31"/>
                </a:solidFill>
                <a:latin typeface="C059"/>
                <a:ea typeface="C059"/>
                <a:cs typeface="C059"/>
              </a:defRPr>
            </a:pPr>
            <a:r>
              <a:rPr sz="2175" b="1">
                <a:solidFill>
                  <a:srgbClr val="D99A31"/>
                </a:solidFill>
                <a:latin typeface="C059"/>
                <a:ea typeface="C059"/>
                <a:cs typeface="C05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84488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2026-09-23T02:47:14.4780000Z</dcterms:created>
  <dcterms:modified xsi:type="dcterms:W3CDTF">2026-09-23T02:47:14.4780000Z</dcterms:modified>
</coreProperties>
</file>